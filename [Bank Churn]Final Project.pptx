
<file path=[Content_Types].xml><?xml version="1.0" encoding="utf-8"?>
<Types xmlns="http://schemas.openxmlformats.org/package/2006/content-types">
  <Default Extension="jpg" ContentType="image/jp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omments/modernComment_14E_5D14C58D.xml" ContentType="application/vnd.ms-powerpoint.comments+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31"/>
  </p:notesMasterIdLst>
  <p:sldIdLst>
    <p:sldId id="256" r:id="rId2"/>
    <p:sldId id="257" r:id="rId3"/>
    <p:sldId id="329" r:id="rId4"/>
    <p:sldId id="258" r:id="rId5"/>
    <p:sldId id="333" r:id="rId6"/>
    <p:sldId id="334" r:id="rId7"/>
    <p:sldId id="356" r:id="rId8"/>
    <p:sldId id="355" r:id="rId9"/>
    <p:sldId id="338" r:id="rId10"/>
    <p:sldId id="341" r:id="rId11"/>
    <p:sldId id="344" r:id="rId12"/>
    <p:sldId id="336" r:id="rId13"/>
    <p:sldId id="352" r:id="rId14"/>
    <p:sldId id="340" r:id="rId15"/>
    <p:sldId id="342" r:id="rId16"/>
    <p:sldId id="345" r:id="rId17"/>
    <p:sldId id="346" r:id="rId18"/>
    <p:sldId id="337" r:id="rId19"/>
    <p:sldId id="347" r:id="rId20"/>
    <p:sldId id="348" r:id="rId21"/>
    <p:sldId id="343" r:id="rId22"/>
    <p:sldId id="349" r:id="rId23"/>
    <p:sldId id="353" r:id="rId24"/>
    <p:sldId id="354" r:id="rId25"/>
    <p:sldId id="351" r:id="rId26"/>
    <p:sldId id="357" r:id="rId27"/>
    <p:sldId id="350" r:id="rId28"/>
    <p:sldId id="327" r:id="rId29"/>
    <p:sldId id="328" r:id="rId30"/>
  </p:sldIdLst>
  <p:sldSz cx="12192000" cy="6858000"/>
  <p:notesSz cx="12192000" cy="685800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1B48A7DF-F331-1683-D65B-C148BBA0974C}" name="Mennatullah Hassanin" initials="MH" userId="33d5d6e1855ffc9b" providerId="Windows Live"/>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BAE8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777" autoAdjust="0"/>
    <p:restoredTop sz="94660"/>
  </p:normalViewPr>
  <p:slideViewPr>
    <p:cSldViewPr>
      <p:cViewPr varScale="1">
        <p:scale>
          <a:sx n="78" d="100"/>
          <a:sy n="78" d="100"/>
        </p:scale>
        <p:origin x="797" y="62"/>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microsoft.com/office/2018/10/relationships/authors" Target="author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bleStyles" Target="tableStyles.xml"/><Relationship Id="rId8" Type="http://schemas.openxmlformats.org/officeDocument/2006/relationships/slide" Target="slides/slide7.xml"/></Relationships>
</file>

<file path=ppt/comments/modernComment_14E_5D14C58D.xml><?xml version="1.0" encoding="utf-8"?>
<p188:cmLst xmlns:a="http://schemas.openxmlformats.org/drawingml/2006/main" xmlns:r="http://schemas.openxmlformats.org/officeDocument/2006/relationships" xmlns:p188="http://schemas.microsoft.com/office/powerpoint/2018/8/main">
  <p188:cm id="{ACDCD5B5-C942-4F69-BD3D-1B4E99F39186}" authorId="{1B48A7DF-F331-1683-D65B-C148BBA0974C}" created="2024-09-29T21:22:14.490">
    <pc:sldMkLst xmlns:pc="http://schemas.microsoft.com/office/powerpoint/2013/main/command">
      <pc:docMk/>
      <pc:sldMk cId="1561642381" sldId="334"/>
    </pc:sldMkLst>
    <p188:txBody>
      <a:bodyPr/>
      <a:lstStyle/>
      <a:p>
        <a:r>
          <a:rPr lang="en-US"/>
          <a:t>Add describe </a:t>
        </a:r>
      </a:p>
    </p188:txBody>
  </p188:cm>
</p188: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5283200" cy="3444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6905625" y="0"/>
            <a:ext cx="5283200" cy="344488"/>
          </a:xfrm>
          <a:prstGeom prst="rect">
            <a:avLst/>
          </a:prstGeom>
        </p:spPr>
        <p:txBody>
          <a:bodyPr vert="horz" lIns="91440" tIns="45720" rIns="91440" bIns="45720" rtlCol="0"/>
          <a:lstStyle>
            <a:lvl1pPr algn="r">
              <a:defRPr sz="1200"/>
            </a:lvl1pPr>
          </a:lstStyle>
          <a:p>
            <a:fld id="{ECEEB795-7AF8-42CB-A6A7-4A52EA60721F}" type="datetimeFigureOut">
              <a:rPr lang="en-US" smtClean="0"/>
              <a:t>10/2/2024</a:t>
            </a:fld>
            <a:endParaRPr lang="en-US"/>
          </a:p>
        </p:txBody>
      </p:sp>
      <p:sp>
        <p:nvSpPr>
          <p:cNvPr id="4" name="Slide Image Placeholder 3"/>
          <p:cNvSpPr>
            <a:spLocks noGrp="1" noRot="1" noChangeAspect="1"/>
          </p:cNvSpPr>
          <p:nvPr>
            <p:ph type="sldImg" idx="2"/>
          </p:nvPr>
        </p:nvSpPr>
        <p:spPr>
          <a:xfrm>
            <a:off x="4038600" y="857250"/>
            <a:ext cx="4114800" cy="2314575"/>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1219200" y="3300413"/>
            <a:ext cx="9753600" cy="2700337"/>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6513513"/>
            <a:ext cx="5283200" cy="3444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6905625" y="6513513"/>
            <a:ext cx="5283200" cy="344487"/>
          </a:xfrm>
          <a:prstGeom prst="rect">
            <a:avLst/>
          </a:prstGeom>
        </p:spPr>
        <p:txBody>
          <a:bodyPr vert="horz" lIns="91440" tIns="45720" rIns="91440" bIns="45720" rtlCol="0" anchor="b"/>
          <a:lstStyle>
            <a:lvl1pPr algn="r">
              <a:defRPr sz="1200"/>
            </a:lvl1pPr>
          </a:lstStyle>
          <a:p>
            <a:fld id="{3E609CE9-6461-48C7-8E58-0DFEB7D0C48B}" type="slidenum">
              <a:rPr lang="en-US" smtClean="0"/>
              <a:t>‹#›</a:t>
            </a:fld>
            <a:endParaRPr lang="en-US"/>
          </a:p>
        </p:txBody>
      </p:sp>
    </p:spTree>
    <p:extLst>
      <p:ext uri="{BB962C8B-B14F-4D97-AF65-F5344CB8AC3E}">
        <p14:creationId xmlns:p14="http://schemas.microsoft.com/office/powerpoint/2010/main" val="27263024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E609CE9-6461-48C7-8E58-0DFEB7D0C48B}" type="slidenum">
              <a:rPr lang="en-US" smtClean="0"/>
              <a:t>6</a:t>
            </a:fld>
            <a:endParaRPr lang="en-US"/>
          </a:p>
        </p:txBody>
      </p:sp>
    </p:spTree>
    <p:extLst>
      <p:ext uri="{BB962C8B-B14F-4D97-AF65-F5344CB8AC3E}">
        <p14:creationId xmlns:p14="http://schemas.microsoft.com/office/powerpoint/2010/main" val="187226169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E609CE9-6461-48C7-8E58-0DFEB7D0C48B}" type="slidenum">
              <a:rPr lang="en-US" smtClean="0"/>
              <a:t>7</a:t>
            </a:fld>
            <a:endParaRPr lang="en-US"/>
          </a:p>
        </p:txBody>
      </p:sp>
    </p:spTree>
    <p:extLst>
      <p:ext uri="{BB962C8B-B14F-4D97-AF65-F5344CB8AC3E}">
        <p14:creationId xmlns:p14="http://schemas.microsoft.com/office/powerpoint/2010/main" val="202641036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E609CE9-6461-48C7-8E58-0DFEB7D0C48B}" type="slidenum">
              <a:rPr lang="en-US" smtClean="0"/>
              <a:t>8</a:t>
            </a:fld>
            <a:endParaRPr lang="en-US"/>
          </a:p>
        </p:txBody>
      </p:sp>
    </p:spTree>
    <p:extLst>
      <p:ext uri="{BB962C8B-B14F-4D97-AF65-F5344CB8AC3E}">
        <p14:creationId xmlns:p14="http://schemas.microsoft.com/office/powerpoint/2010/main" val="160793040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E609CE9-6461-48C7-8E58-0DFEB7D0C48B}" type="slidenum">
              <a:rPr lang="en-US" smtClean="0"/>
              <a:t>18</a:t>
            </a:fld>
            <a:endParaRPr lang="en-US"/>
          </a:p>
        </p:txBody>
      </p:sp>
    </p:spTree>
    <p:extLst>
      <p:ext uri="{BB962C8B-B14F-4D97-AF65-F5344CB8AC3E}">
        <p14:creationId xmlns:p14="http://schemas.microsoft.com/office/powerpoint/2010/main" val="3619272861"/>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jpg"/><Relationship Id="rId1" Type="http://schemas.openxmlformats.org/officeDocument/2006/relationships/slideMaster" Target="../slideMasters/slideMaster1.xml"/><Relationship Id="rId4" Type="http://schemas.openxmlformats.org/officeDocument/2006/relationships/image" Target="../media/image5.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jpg"/><Relationship Id="rId1" Type="http://schemas.openxmlformats.org/officeDocument/2006/relationships/slideMaster" Target="../slideMasters/slideMaster1.xml"/><Relationship Id="rId4" Type="http://schemas.openxmlformats.org/officeDocument/2006/relationships/image" Target="../media/image5.png"/></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obj" preserve="1">
  <p:cSld name="Title Slide">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2" cstate="print"/>
          <a:stretch>
            <a:fillRect/>
          </a:stretch>
        </p:blipFill>
        <p:spPr>
          <a:xfrm>
            <a:off x="0" y="0"/>
            <a:ext cx="12192000" cy="6857998"/>
          </a:xfrm>
          <a:prstGeom prst="rect">
            <a:avLst/>
          </a:prstGeom>
        </p:spPr>
      </p:pic>
      <p:pic>
        <p:nvPicPr>
          <p:cNvPr id="17" name="bg object 17"/>
          <p:cNvPicPr/>
          <p:nvPr/>
        </p:nvPicPr>
        <p:blipFill>
          <a:blip r:embed="rId3" cstate="print"/>
          <a:stretch>
            <a:fillRect/>
          </a:stretch>
        </p:blipFill>
        <p:spPr>
          <a:xfrm>
            <a:off x="10712195" y="330708"/>
            <a:ext cx="1283207" cy="637032"/>
          </a:xfrm>
          <a:prstGeom prst="rect">
            <a:avLst/>
          </a:prstGeom>
        </p:spPr>
      </p:pic>
      <p:pic>
        <p:nvPicPr>
          <p:cNvPr id="18" name="bg object 18"/>
          <p:cNvPicPr/>
          <p:nvPr/>
        </p:nvPicPr>
        <p:blipFill>
          <a:blip r:embed="rId4" cstate="print"/>
          <a:stretch>
            <a:fillRect/>
          </a:stretch>
        </p:blipFill>
        <p:spPr>
          <a:xfrm>
            <a:off x="92964" y="0"/>
            <a:ext cx="1490472" cy="1386839"/>
          </a:xfrm>
          <a:prstGeom prst="rect">
            <a:avLst/>
          </a:prstGeom>
        </p:spPr>
      </p:pic>
      <p:sp>
        <p:nvSpPr>
          <p:cNvPr id="19" name="bg object 19"/>
          <p:cNvSpPr/>
          <p:nvPr/>
        </p:nvSpPr>
        <p:spPr>
          <a:xfrm>
            <a:off x="10974323" y="6344411"/>
            <a:ext cx="466725" cy="431800"/>
          </a:xfrm>
          <a:custGeom>
            <a:avLst/>
            <a:gdLst/>
            <a:ahLst/>
            <a:cxnLst/>
            <a:rect l="l" t="t" r="r" b="b"/>
            <a:pathLst>
              <a:path w="466725" h="431800">
                <a:moveTo>
                  <a:pt x="466344" y="0"/>
                </a:moveTo>
                <a:lnTo>
                  <a:pt x="0" y="0"/>
                </a:lnTo>
                <a:lnTo>
                  <a:pt x="0" y="431291"/>
                </a:lnTo>
                <a:lnTo>
                  <a:pt x="466344" y="431291"/>
                </a:lnTo>
                <a:lnTo>
                  <a:pt x="466344" y="0"/>
                </a:lnTo>
                <a:close/>
              </a:path>
            </a:pathLst>
          </a:custGeom>
          <a:solidFill>
            <a:srgbClr val="1769A6"/>
          </a:solidFill>
        </p:spPr>
        <p:txBody>
          <a:bodyPr wrap="square" lIns="0" tIns="0" rIns="0" bIns="0" rtlCol="0"/>
          <a:lstStyle/>
          <a:p>
            <a:endParaRPr/>
          </a:p>
        </p:txBody>
      </p:sp>
      <p:sp>
        <p:nvSpPr>
          <p:cNvPr id="2" name="Holder 2"/>
          <p:cNvSpPr>
            <a:spLocks noGrp="1"/>
          </p:cNvSpPr>
          <p:nvPr>
            <p:ph type="ctrTitle"/>
          </p:nvPr>
        </p:nvSpPr>
        <p:spPr>
          <a:xfrm>
            <a:off x="606653" y="1205941"/>
            <a:ext cx="10978692" cy="981710"/>
          </a:xfrm>
          <a:prstGeom prst="rect">
            <a:avLst/>
          </a:prstGeom>
        </p:spPr>
        <p:txBody>
          <a:bodyPr wrap="square" lIns="0" tIns="0" rIns="0" bIns="0">
            <a:spAutoFit/>
          </a:bodyPr>
          <a:lstStyle>
            <a:lvl1pPr>
              <a:defRPr sz="3050" b="0" i="0">
                <a:solidFill>
                  <a:srgbClr val="1A1A1A"/>
                </a:solidFill>
                <a:latin typeface="Trebuchet MS"/>
                <a:cs typeface="Trebuchet MS"/>
              </a:defRPr>
            </a:lvl1pPr>
          </a:lstStyle>
          <a:p>
            <a:endParaRPr/>
          </a:p>
        </p:txBody>
      </p:sp>
      <p:sp>
        <p:nvSpPr>
          <p:cNvPr id="3" name="Holder 3"/>
          <p:cNvSpPr>
            <a:spLocks noGrp="1"/>
          </p:cNvSpPr>
          <p:nvPr>
            <p:ph type="subTitle" idx="4"/>
          </p:nvPr>
        </p:nvSpPr>
        <p:spPr>
          <a:xfrm>
            <a:off x="1828800" y="3840480"/>
            <a:ext cx="8534400" cy="1714500"/>
          </a:xfrm>
          <a:prstGeom prst="rect">
            <a:avLst/>
          </a:prstGeom>
        </p:spPr>
        <p:txBody>
          <a:bodyPr wrap="square" lIns="0" tIns="0" rIns="0" bIns="0">
            <a:spAutoFit/>
          </a:bodyPr>
          <a:lstStyle>
            <a:lvl1pPr>
              <a:defRPr sz="2400" b="0" i="0">
                <a:solidFill>
                  <a:srgbClr val="585858"/>
                </a:solidFill>
                <a:latin typeface="Tahoma"/>
                <a:cs typeface="Tahoma"/>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34BD2034-B98C-4D6E-9845-9C1B1F90338B}" type="datetime1">
              <a:rPr lang="en-US" smtClean="0"/>
              <a:t>10/2/2024</a:t>
            </a:fld>
            <a:endParaRPr lang="en-US"/>
          </a:p>
        </p:txBody>
      </p:sp>
      <p:sp>
        <p:nvSpPr>
          <p:cNvPr id="6" name="Holder 6"/>
          <p:cNvSpPr>
            <a:spLocks noGrp="1"/>
          </p:cNvSpPr>
          <p:nvPr>
            <p:ph type="sldNum" sz="quarter" idx="7"/>
          </p:nvPr>
        </p:nvSpPr>
        <p:spPr/>
        <p:txBody>
          <a:bodyPr lIns="0" tIns="0" rIns="0" bIns="0"/>
          <a:lstStyle>
            <a:lvl1pPr>
              <a:defRPr sz="1200" b="0" i="0">
                <a:solidFill>
                  <a:schemeClr val="bg1"/>
                </a:solidFill>
                <a:latin typeface="Calibri"/>
                <a:cs typeface="Calibri"/>
              </a:defRPr>
            </a:lvl1pPr>
          </a:lstStyle>
          <a:p>
            <a:pPr marL="38100">
              <a:lnSpc>
                <a:spcPts val="1240"/>
              </a:lnSpc>
            </a:pPr>
            <a:fld id="{81D60167-4931-47E6-BA6A-407CBD079E47}" type="slidenum">
              <a:rPr spc="-25" dirty="0"/>
              <a:t>‹#›</a:t>
            </a:fld>
            <a:endParaRPr spc="-25"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Title and Content">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2" cstate="print"/>
          <a:stretch>
            <a:fillRect/>
          </a:stretch>
        </p:blipFill>
        <p:spPr>
          <a:xfrm>
            <a:off x="0" y="0"/>
            <a:ext cx="12192000" cy="6857998"/>
          </a:xfrm>
          <a:prstGeom prst="rect">
            <a:avLst/>
          </a:prstGeom>
        </p:spPr>
      </p:pic>
      <p:pic>
        <p:nvPicPr>
          <p:cNvPr id="17" name="bg object 17"/>
          <p:cNvPicPr/>
          <p:nvPr/>
        </p:nvPicPr>
        <p:blipFill>
          <a:blip r:embed="rId3" cstate="print"/>
          <a:stretch>
            <a:fillRect/>
          </a:stretch>
        </p:blipFill>
        <p:spPr>
          <a:xfrm>
            <a:off x="10712195" y="330708"/>
            <a:ext cx="1283207" cy="637032"/>
          </a:xfrm>
          <a:prstGeom prst="rect">
            <a:avLst/>
          </a:prstGeom>
        </p:spPr>
      </p:pic>
      <p:sp>
        <p:nvSpPr>
          <p:cNvPr id="18" name="bg object 18"/>
          <p:cNvSpPr/>
          <p:nvPr/>
        </p:nvSpPr>
        <p:spPr>
          <a:xfrm>
            <a:off x="10974323" y="6344411"/>
            <a:ext cx="466725" cy="431800"/>
          </a:xfrm>
          <a:custGeom>
            <a:avLst/>
            <a:gdLst/>
            <a:ahLst/>
            <a:cxnLst/>
            <a:rect l="l" t="t" r="r" b="b"/>
            <a:pathLst>
              <a:path w="466725" h="431800">
                <a:moveTo>
                  <a:pt x="466344" y="0"/>
                </a:moveTo>
                <a:lnTo>
                  <a:pt x="0" y="0"/>
                </a:lnTo>
                <a:lnTo>
                  <a:pt x="0" y="431291"/>
                </a:lnTo>
                <a:lnTo>
                  <a:pt x="466344" y="431291"/>
                </a:lnTo>
                <a:lnTo>
                  <a:pt x="466344" y="0"/>
                </a:lnTo>
                <a:close/>
              </a:path>
            </a:pathLst>
          </a:custGeom>
          <a:solidFill>
            <a:srgbClr val="1769A6"/>
          </a:solidFill>
        </p:spPr>
        <p:txBody>
          <a:bodyPr wrap="square" lIns="0" tIns="0" rIns="0" bIns="0" rtlCol="0"/>
          <a:lstStyle/>
          <a:p>
            <a:endParaRPr/>
          </a:p>
        </p:txBody>
      </p:sp>
      <p:pic>
        <p:nvPicPr>
          <p:cNvPr id="19" name="bg object 19"/>
          <p:cNvPicPr/>
          <p:nvPr/>
        </p:nvPicPr>
        <p:blipFill>
          <a:blip r:embed="rId4" cstate="print"/>
          <a:stretch>
            <a:fillRect/>
          </a:stretch>
        </p:blipFill>
        <p:spPr>
          <a:xfrm>
            <a:off x="92964" y="0"/>
            <a:ext cx="1490472" cy="1386839"/>
          </a:xfrm>
          <a:prstGeom prst="rect">
            <a:avLst/>
          </a:prstGeom>
        </p:spPr>
      </p:pic>
      <p:sp>
        <p:nvSpPr>
          <p:cNvPr id="2" name="Holder 2"/>
          <p:cNvSpPr>
            <a:spLocks noGrp="1"/>
          </p:cNvSpPr>
          <p:nvPr>
            <p:ph type="title"/>
          </p:nvPr>
        </p:nvSpPr>
        <p:spPr/>
        <p:txBody>
          <a:bodyPr lIns="0" tIns="0" rIns="0" bIns="0"/>
          <a:lstStyle>
            <a:lvl1pPr>
              <a:defRPr sz="3050" b="0" i="0">
                <a:solidFill>
                  <a:srgbClr val="1A1A1A"/>
                </a:solidFill>
                <a:latin typeface="Trebuchet MS"/>
                <a:cs typeface="Trebuchet MS"/>
              </a:defRPr>
            </a:lvl1pPr>
          </a:lstStyle>
          <a:p>
            <a:endParaRPr/>
          </a:p>
        </p:txBody>
      </p:sp>
      <p:sp>
        <p:nvSpPr>
          <p:cNvPr id="3" name="Holder 3"/>
          <p:cNvSpPr>
            <a:spLocks noGrp="1"/>
          </p:cNvSpPr>
          <p:nvPr>
            <p:ph type="body" idx="1"/>
          </p:nvPr>
        </p:nvSpPr>
        <p:spPr/>
        <p:txBody>
          <a:bodyPr lIns="0" tIns="0" rIns="0" bIns="0"/>
          <a:lstStyle>
            <a:lvl1pPr>
              <a:defRPr sz="2400" b="0" i="0">
                <a:solidFill>
                  <a:srgbClr val="585858"/>
                </a:solidFill>
                <a:latin typeface="Tahoma"/>
                <a:cs typeface="Tahoma"/>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39B8115E-F5CF-496C-A13B-EC2E79FAD78A}" type="datetime1">
              <a:rPr lang="en-US" smtClean="0"/>
              <a:t>10/2/2024</a:t>
            </a:fld>
            <a:endParaRPr lang="en-US"/>
          </a:p>
        </p:txBody>
      </p:sp>
      <p:sp>
        <p:nvSpPr>
          <p:cNvPr id="6" name="Holder 6"/>
          <p:cNvSpPr>
            <a:spLocks noGrp="1"/>
          </p:cNvSpPr>
          <p:nvPr>
            <p:ph type="sldNum" sz="quarter" idx="7"/>
          </p:nvPr>
        </p:nvSpPr>
        <p:spPr/>
        <p:txBody>
          <a:bodyPr lIns="0" tIns="0" rIns="0" bIns="0"/>
          <a:lstStyle>
            <a:lvl1pPr>
              <a:defRPr sz="1200" b="0" i="0">
                <a:solidFill>
                  <a:schemeClr val="bg1"/>
                </a:solidFill>
                <a:latin typeface="Calibri"/>
                <a:cs typeface="Calibri"/>
              </a:defRPr>
            </a:lvl1pPr>
          </a:lstStyle>
          <a:p>
            <a:pPr marL="38100">
              <a:lnSpc>
                <a:spcPts val="1240"/>
              </a:lnSpc>
            </a:pPr>
            <a:fld id="{81D60167-4931-47E6-BA6A-407CBD079E47}" type="slidenum">
              <a:rPr spc="-25" dirty="0"/>
              <a:t>‹#›</a:t>
            </a:fld>
            <a:endParaRPr spc="-25"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050" b="0" i="0">
                <a:solidFill>
                  <a:srgbClr val="1A1A1A"/>
                </a:solidFill>
                <a:latin typeface="Trebuchet MS"/>
                <a:cs typeface="Trebuchet MS"/>
              </a:defRPr>
            </a:lvl1pPr>
          </a:lstStyle>
          <a:p>
            <a:endParaRPr/>
          </a:p>
        </p:txBody>
      </p:sp>
      <p:sp>
        <p:nvSpPr>
          <p:cNvPr id="3" name="Holder 3"/>
          <p:cNvSpPr>
            <a:spLocks noGrp="1"/>
          </p:cNvSpPr>
          <p:nvPr>
            <p:ph sz="half" idx="2"/>
          </p:nvPr>
        </p:nvSpPr>
        <p:spPr>
          <a:xfrm>
            <a:off x="609600" y="1577340"/>
            <a:ext cx="530352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8880" y="1577340"/>
            <a:ext cx="530352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F81EF29F-0000-4976-945F-5648229E5EEF}" type="datetime1">
              <a:rPr lang="en-US" smtClean="0"/>
              <a:t>10/2/2024</a:t>
            </a:fld>
            <a:endParaRPr lang="en-US"/>
          </a:p>
        </p:txBody>
      </p:sp>
      <p:sp>
        <p:nvSpPr>
          <p:cNvPr id="7" name="Holder 7"/>
          <p:cNvSpPr>
            <a:spLocks noGrp="1"/>
          </p:cNvSpPr>
          <p:nvPr>
            <p:ph type="sldNum" sz="quarter" idx="7"/>
          </p:nvPr>
        </p:nvSpPr>
        <p:spPr/>
        <p:txBody>
          <a:bodyPr lIns="0" tIns="0" rIns="0" bIns="0"/>
          <a:lstStyle>
            <a:lvl1pPr>
              <a:defRPr sz="1200" b="0" i="0">
                <a:solidFill>
                  <a:schemeClr val="bg1"/>
                </a:solidFill>
                <a:latin typeface="Calibri"/>
                <a:cs typeface="Calibri"/>
              </a:defRPr>
            </a:lvl1pPr>
          </a:lstStyle>
          <a:p>
            <a:pPr marL="38100">
              <a:lnSpc>
                <a:spcPts val="1240"/>
              </a:lnSpc>
            </a:pPr>
            <a:fld id="{81D60167-4931-47E6-BA6A-407CBD079E47}" type="slidenum">
              <a:rPr spc="-25" dirty="0"/>
              <a:t>‹#›</a:t>
            </a:fld>
            <a:endParaRPr spc="-25"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obj" preserve="1">
  <p:cSld name="Title Only">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2" cstate="print"/>
          <a:stretch>
            <a:fillRect/>
          </a:stretch>
        </p:blipFill>
        <p:spPr>
          <a:xfrm>
            <a:off x="0" y="0"/>
            <a:ext cx="12192000" cy="6857998"/>
          </a:xfrm>
          <a:prstGeom prst="rect">
            <a:avLst/>
          </a:prstGeom>
        </p:spPr>
      </p:pic>
      <p:pic>
        <p:nvPicPr>
          <p:cNvPr id="17" name="bg object 17"/>
          <p:cNvPicPr/>
          <p:nvPr/>
        </p:nvPicPr>
        <p:blipFill>
          <a:blip r:embed="rId3" cstate="print"/>
          <a:stretch>
            <a:fillRect/>
          </a:stretch>
        </p:blipFill>
        <p:spPr>
          <a:xfrm>
            <a:off x="10712195" y="330708"/>
            <a:ext cx="1283207" cy="637032"/>
          </a:xfrm>
          <a:prstGeom prst="rect">
            <a:avLst/>
          </a:prstGeom>
        </p:spPr>
      </p:pic>
      <p:pic>
        <p:nvPicPr>
          <p:cNvPr id="18" name="bg object 18"/>
          <p:cNvPicPr/>
          <p:nvPr/>
        </p:nvPicPr>
        <p:blipFill>
          <a:blip r:embed="rId4" cstate="print"/>
          <a:stretch>
            <a:fillRect/>
          </a:stretch>
        </p:blipFill>
        <p:spPr>
          <a:xfrm>
            <a:off x="92964" y="0"/>
            <a:ext cx="1490472" cy="1386839"/>
          </a:xfrm>
          <a:prstGeom prst="rect">
            <a:avLst/>
          </a:prstGeom>
        </p:spPr>
      </p:pic>
      <p:sp>
        <p:nvSpPr>
          <p:cNvPr id="19" name="bg object 19"/>
          <p:cNvSpPr/>
          <p:nvPr/>
        </p:nvSpPr>
        <p:spPr>
          <a:xfrm>
            <a:off x="10974323" y="6344411"/>
            <a:ext cx="466725" cy="431800"/>
          </a:xfrm>
          <a:custGeom>
            <a:avLst/>
            <a:gdLst/>
            <a:ahLst/>
            <a:cxnLst/>
            <a:rect l="l" t="t" r="r" b="b"/>
            <a:pathLst>
              <a:path w="466725" h="431800">
                <a:moveTo>
                  <a:pt x="466344" y="0"/>
                </a:moveTo>
                <a:lnTo>
                  <a:pt x="0" y="0"/>
                </a:lnTo>
                <a:lnTo>
                  <a:pt x="0" y="431291"/>
                </a:lnTo>
                <a:lnTo>
                  <a:pt x="466344" y="431291"/>
                </a:lnTo>
                <a:lnTo>
                  <a:pt x="466344" y="0"/>
                </a:lnTo>
                <a:close/>
              </a:path>
            </a:pathLst>
          </a:custGeom>
          <a:solidFill>
            <a:srgbClr val="1769A6"/>
          </a:solidFill>
        </p:spPr>
        <p:txBody>
          <a:bodyPr wrap="square" lIns="0" tIns="0" rIns="0" bIns="0" rtlCol="0"/>
          <a:lstStyle/>
          <a:p>
            <a:endParaRPr/>
          </a:p>
        </p:txBody>
      </p:sp>
      <p:sp>
        <p:nvSpPr>
          <p:cNvPr id="2" name="Holder 2"/>
          <p:cNvSpPr>
            <a:spLocks noGrp="1"/>
          </p:cNvSpPr>
          <p:nvPr>
            <p:ph type="title"/>
          </p:nvPr>
        </p:nvSpPr>
        <p:spPr/>
        <p:txBody>
          <a:bodyPr lIns="0" tIns="0" rIns="0" bIns="0"/>
          <a:lstStyle>
            <a:lvl1pPr>
              <a:defRPr sz="3050" b="0" i="0">
                <a:solidFill>
                  <a:srgbClr val="1A1A1A"/>
                </a:solidFill>
                <a:latin typeface="Trebuchet MS"/>
                <a:cs typeface="Trebuchet MS"/>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3E04F41A-A2C7-4693-AE82-FF9781625C26}" type="datetime1">
              <a:rPr lang="en-US" smtClean="0"/>
              <a:t>10/2/2024</a:t>
            </a:fld>
            <a:endParaRPr lang="en-US"/>
          </a:p>
        </p:txBody>
      </p:sp>
      <p:sp>
        <p:nvSpPr>
          <p:cNvPr id="5" name="Holder 5"/>
          <p:cNvSpPr>
            <a:spLocks noGrp="1"/>
          </p:cNvSpPr>
          <p:nvPr>
            <p:ph type="sldNum" sz="quarter" idx="7"/>
          </p:nvPr>
        </p:nvSpPr>
        <p:spPr/>
        <p:txBody>
          <a:bodyPr lIns="0" tIns="0" rIns="0" bIns="0"/>
          <a:lstStyle>
            <a:lvl1pPr>
              <a:defRPr sz="1200" b="0" i="0">
                <a:solidFill>
                  <a:schemeClr val="bg1"/>
                </a:solidFill>
                <a:latin typeface="Calibri"/>
                <a:cs typeface="Calibri"/>
              </a:defRPr>
            </a:lvl1pPr>
          </a:lstStyle>
          <a:p>
            <a:pPr marL="38100">
              <a:lnSpc>
                <a:spcPts val="1240"/>
              </a:lnSpc>
            </a:pPr>
            <a:fld id="{81D60167-4931-47E6-BA6A-407CBD079E47}" type="slidenum">
              <a:rPr spc="-25" dirty="0"/>
              <a:t>‹#›</a:t>
            </a:fld>
            <a:endParaRPr spc="-25"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obj" preserve="1">
  <p:cSld name="Blank">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2" cstate="print"/>
          <a:stretch>
            <a:fillRect/>
          </a:stretch>
        </p:blipFill>
        <p:spPr>
          <a:xfrm>
            <a:off x="0" y="0"/>
            <a:ext cx="12192000" cy="6857998"/>
          </a:xfrm>
          <a:prstGeom prst="rect">
            <a:avLst/>
          </a:prstGeom>
        </p:spPr>
      </p:pic>
      <p:pic>
        <p:nvPicPr>
          <p:cNvPr id="17" name="bg object 17"/>
          <p:cNvPicPr/>
          <p:nvPr/>
        </p:nvPicPr>
        <p:blipFill>
          <a:blip r:embed="rId3" cstate="print"/>
          <a:stretch>
            <a:fillRect/>
          </a:stretch>
        </p:blipFill>
        <p:spPr>
          <a:xfrm>
            <a:off x="10712195" y="330708"/>
            <a:ext cx="1283207" cy="637032"/>
          </a:xfrm>
          <a:prstGeom prst="rect">
            <a:avLst/>
          </a:prstGeom>
        </p:spPr>
      </p:pic>
      <p:sp>
        <p:nvSpPr>
          <p:cNvPr id="18" name="bg object 18"/>
          <p:cNvSpPr/>
          <p:nvPr/>
        </p:nvSpPr>
        <p:spPr>
          <a:xfrm>
            <a:off x="10974323" y="6344411"/>
            <a:ext cx="466725" cy="431800"/>
          </a:xfrm>
          <a:custGeom>
            <a:avLst/>
            <a:gdLst/>
            <a:ahLst/>
            <a:cxnLst/>
            <a:rect l="l" t="t" r="r" b="b"/>
            <a:pathLst>
              <a:path w="466725" h="431800">
                <a:moveTo>
                  <a:pt x="466344" y="0"/>
                </a:moveTo>
                <a:lnTo>
                  <a:pt x="0" y="0"/>
                </a:lnTo>
                <a:lnTo>
                  <a:pt x="0" y="431291"/>
                </a:lnTo>
                <a:lnTo>
                  <a:pt x="466344" y="431291"/>
                </a:lnTo>
                <a:lnTo>
                  <a:pt x="466344" y="0"/>
                </a:lnTo>
                <a:close/>
              </a:path>
            </a:pathLst>
          </a:custGeom>
          <a:solidFill>
            <a:srgbClr val="1769A6"/>
          </a:solidFill>
        </p:spPr>
        <p:txBody>
          <a:bodyPr wrap="square" lIns="0" tIns="0" rIns="0" bIns="0" rtlCol="0"/>
          <a:lstStyle/>
          <a:p>
            <a:endParaRPr/>
          </a:p>
        </p:txBody>
      </p:sp>
      <p:pic>
        <p:nvPicPr>
          <p:cNvPr id="19" name="bg object 19"/>
          <p:cNvPicPr/>
          <p:nvPr/>
        </p:nvPicPr>
        <p:blipFill>
          <a:blip r:embed="rId4" cstate="print"/>
          <a:stretch>
            <a:fillRect/>
          </a:stretch>
        </p:blipFill>
        <p:spPr>
          <a:xfrm>
            <a:off x="92964" y="0"/>
            <a:ext cx="1490472" cy="1386839"/>
          </a:xfrm>
          <a:prstGeom prst="rect">
            <a:avLst/>
          </a:prstGeom>
        </p:spPr>
      </p:pic>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A1A7D4F2-13BD-42EA-857A-970433B81865}" type="datetime1">
              <a:rPr lang="en-US" smtClean="0"/>
              <a:t>10/2/2024</a:t>
            </a:fld>
            <a:endParaRPr lang="en-US"/>
          </a:p>
        </p:txBody>
      </p:sp>
      <p:sp>
        <p:nvSpPr>
          <p:cNvPr id="4" name="Holder 4"/>
          <p:cNvSpPr>
            <a:spLocks noGrp="1"/>
          </p:cNvSpPr>
          <p:nvPr>
            <p:ph type="sldNum" sz="quarter" idx="7"/>
          </p:nvPr>
        </p:nvSpPr>
        <p:spPr/>
        <p:txBody>
          <a:bodyPr lIns="0" tIns="0" rIns="0" bIns="0"/>
          <a:lstStyle>
            <a:lvl1pPr>
              <a:defRPr sz="1200" b="0" i="0">
                <a:solidFill>
                  <a:schemeClr val="bg1"/>
                </a:solidFill>
                <a:latin typeface="Calibri"/>
                <a:cs typeface="Calibri"/>
              </a:defRPr>
            </a:lvl1pPr>
          </a:lstStyle>
          <a:p>
            <a:pPr marL="38100">
              <a:lnSpc>
                <a:spcPts val="1240"/>
              </a:lnSpc>
            </a:pPr>
            <a:fld id="{81D60167-4931-47E6-BA6A-407CBD079E47}" type="slidenum">
              <a:rPr spc="-25" dirty="0"/>
              <a:t>‹#›</a:t>
            </a:fld>
            <a:endParaRPr spc="-25"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jp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7" cstate="print"/>
          <a:stretch>
            <a:fillRect/>
          </a:stretch>
        </p:blipFill>
        <p:spPr>
          <a:xfrm>
            <a:off x="0" y="0"/>
            <a:ext cx="12192000" cy="6857998"/>
          </a:xfrm>
          <a:prstGeom prst="rect">
            <a:avLst/>
          </a:prstGeom>
        </p:spPr>
      </p:pic>
      <p:sp>
        <p:nvSpPr>
          <p:cNvPr id="2" name="Holder 2"/>
          <p:cNvSpPr>
            <a:spLocks noGrp="1"/>
          </p:cNvSpPr>
          <p:nvPr>
            <p:ph type="title"/>
          </p:nvPr>
        </p:nvSpPr>
        <p:spPr>
          <a:xfrm>
            <a:off x="454863" y="1303731"/>
            <a:ext cx="8989288" cy="1038656"/>
          </a:xfrm>
          <a:prstGeom prst="rect">
            <a:avLst/>
          </a:prstGeom>
        </p:spPr>
        <p:txBody>
          <a:bodyPr wrap="square" lIns="0" tIns="0" rIns="0" bIns="0">
            <a:spAutoFit/>
          </a:bodyPr>
          <a:lstStyle>
            <a:lvl1pPr>
              <a:defRPr sz="3050" b="0" i="0">
                <a:solidFill>
                  <a:srgbClr val="1A1A1A"/>
                </a:solidFill>
                <a:latin typeface="Trebuchet MS"/>
                <a:cs typeface="Trebuchet MS"/>
              </a:defRPr>
            </a:lvl1pPr>
          </a:lstStyle>
          <a:p>
            <a:endParaRPr/>
          </a:p>
        </p:txBody>
      </p:sp>
      <p:sp>
        <p:nvSpPr>
          <p:cNvPr id="3" name="Holder 3"/>
          <p:cNvSpPr>
            <a:spLocks noGrp="1"/>
          </p:cNvSpPr>
          <p:nvPr>
            <p:ph type="body" idx="1"/>
          </p:nvPr>
        </p:nvSpPr>
        <p:spPr>
          <a:xfrm>
            <a:off x="1268983" y="2859785"/>
            <a:ext cx="9863455" cy="1610995"/>
          </a:xfrm>
          <a:prstGeom prst="rect">
            <a:avLst/>
          </a:prstGeom>
        </p:spPr>
        <p:txBody>
          <a:bodyPr wrap="square" lIns="0" tIns="0" rIns="0" bIns="0">
            <a:spAutoFit/>
          </a:bodyPr>
          <a:lstStyle>
            <a:lvl1pPr>
              <a:defRPr sz="2400" b="0" i="0">
                <a:solidFill>
                  <a:srgbClr val="585858"/>
                </a:solidFill>
                <a:latin typeface="Tahoma"/>
                <a:cs typeface="Tahoma"/>
              </a:defRPr>
            </a:lvl1pPr>
          </a:lstStyle>
          <a:p>
            <a:endParaRPr/>
          </a:p>
        </p:txBody>
      </p:sp>
      <p:sp>
        <p:nvSpPr>
          <p:cNvPr id="4" name="Holder 4"/>
          <p:cNvSpPr>
            <a:spLocks noGrp="1"/>
          </p:cNvSpPr>
          <p:nvPr>
            <p:ph type="ftr" sz="quarter" idx="5"/>
          </p:nvPr>
        </p:nvSpPr>
        <p:spPr>
          <a:xfrm>
            <a:off x="4145280" y="6377940"/>
            <a:ext cx="3901440" cy="34290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609600" y="6377940"/>
            <a:ext cx="2804160" cy="342900"/>
          </a:xfrm>
          <a:prstGeom prst="rect">
            <a:avLst/>
          </a:prstGeom>
        </p:spPr>
        <p:txBody>
          <a:bodyPr wrap="square" lIns="0" tIns="0" rIns="0" bIns="0">
            <a:spAutoFit/>
          </a:bodyPr>
          <a:lstStyle>
            <a:lvl1pPr algn="l">
              <a:defRPr>
                <a:solidFill>
                  <a:schemeClr val="tx1">
                    <a:tint val="75000"/>
                  </a:schemeClr>
                </a:solidFill>
              </a:defRPr>
            </a:lvl1pPr>
          </a:lstStyle>
          <a:p>
            <a:fld id="{E3383522-F987-4EB5-8EC7-07BC8D0A0196}" type="datetime1">
              <a:rPr lang="en-US" smtClean="0"/>
              <a:t>10/2/2024</a:t>
            </a:fld>
            <a:endParaRPr lang="en-US"/>
          </a:p>
        </p:txBody>
      </p:sp>
      <p:sp>
        <p:nvSpPr>
          <p:cNvPr id="6" name="Holder 6"/>
          <p:cNvSpPr>
            <a:spLocks noGrp="1"/>
          </p:cNvSpPr>
          <p:nvPr>
            <p:ph type="sldNum" sz="quarter" idx="7"/>
          </p:nvPr>
        </p:nvSpPr>
        <p:spPr>
          <a:xfrm>
            <a:off x="11068557" y="6465214"/>
            <a:ext cx="244475" cy="177800"/>
          </a:xfrm>
          <a:prstGeom prst="rect">
            <a:avLst/>
          </a:prstGeom>
        </p:spPr>
        <p:txBody>
          <a:bodyPr wrap="square" lIns="0" tIns="0" rIns="0" bIns="0">
            <a:spAutoFit/>
          </a:bodyPr>
          <a:lstStyle>
            <a:lvl1pPr>
              <a:defRPr sz="1200" b="0" i="0">
                <a:solidFill>
                  <a:schemeClr val="bg1"/>
                </a:solidFill>
                <a:latin typeface="Calibri"/>
                <a:cs typeface="Calibri"/>
              </a:defRPr>
            </a:lvl1pPr>
          </a:lstStyle>
          <a:p>
            <a:pPr marL="38100">
              <a:lnSpc>
                <a:spcPts val="1240"/>
              </a:lnSpc>
            </a:pPr>
            <a:fld id="{81D60167-4931-47E6-BA6A-407CBD079E47}" type="slidenum">
              <a:rPr spc="-25" dirty="0"/>
              <a:t>‹#›</a:t>
            </a:fld>
            <a:endParaRPr spc="-25" dirty="0"/>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hf hdr="0" ftr="0" dt="0"/>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microsoft.com/office/2018/10/relationships/comments" Target="../comments/modernComment_14E_5D14C58D.xml"/><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 Id="rId5" Type="http://schemas.openxmlformats.org/officeDocument/2006/relationships/image" Target="../media/image17.png"/><Relationship Id="rId4" Type="http://schemas.openxmlformats.org/officeDocument/2006/relationships/image" Target="../media/image16.png"/></Relationships>
</file>

<file path=ppt/slides/_rels/slide11.xml.rels><?xml version="1.0" encoding="UTF-8" standalone="yes"?>
<Relationships xmlns="http://schemas.openxmlformats.org/package/2006/relationships"><Relationship Id="rId8" Type="http://schemas.openxmlformats.org/officeDocument/2006/relationships/image" Target="../media/image24.png"/><Relationship Id="rId3" Type="http://schemas.openxmlformats.org/officeDocument/2006/relationships/image" Target="../media/image19.png"/><Relationship Id="rId7" Type="http://schemas.openxmlformats.org/officeDocument/2006/relationships/image" Target="../media/image23.png"/><Relationship Id="rId2" Type="http://schemas.openxmlformats.org/officeDocument/2006/relationships/image" Target="../media/image18.png"/><Relationship Id="rId1" Type="http://schemas.openxmlformats.org/officeDocument/2006/relationships/slideLayout" Target="../slideLayouts/slideLayout2.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20.png"/><Relationship Id="rId9" Type="http://schemas.openxmlformats.org/officeDocument/2006/relationships/image" Target="../media/image25.png"/></Relationships>
</file>

<file path=ppt/slides/_rels/slide12.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2.xml"/><Relationship Id="rId5" Type="http://schemas.openxmlformats.org/officeDocument/2006/relationships/image" Target="../media/image33.png"/><Relationship Id="rId4" Type="http://schemas.microsoft.com/office/2007/relationships/hdphoto" Target="../media/hdphoto1.wdp"/></Relationships>
</file>

<file path=ppt/slides/_rels/slide17.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36.png"/></Relationships>
</file>

<file path=ppt/slides/_rels/slide19.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0" y="0"/>
            <a:ext cx="12192000" cy="6857998"/>
          </a:xfrm>
          <a:prstGeom prst="rect">
            <a:avLst/>
          </a:prstGeom>
        </p:spPr>
      </p:pic>
      <p:pic>
        <p:nvPicPr>
          <p:cNvPr id="3" name="object 3"/>
          <p:cNvPicPr/>
          <p:nvPr/>
        </p:nvPicPr>
        <p:blipFill>
          <a:blip r:embed="rId3" cstate="print"/>
          <a:stretch>
            <a:fillRect/>
          </a:stretch>
        </p:blipFill>
        <p:spPr>
          <a:xfrm>
            <a:off x="10712195" y="330708"/>
            <a:ext cx="1283207" cy="637032"/>
          </a:xfrm>
          <a:prstGeom prst="rect">
            <a:avLst/>
          </a:prstGeom>
        </p:spPr>
      </p:pic>
      <p:pic>
        <p:nvPicPr>
          <p:cNvPr id="4" name="object 4"/>
          <p:cNvPicPr/>
          <p:nvPr/>
        </p:nvPicPr>
        <p:blipFill>
          <a:blip r:embed="rId4" cstate="print"/>
          <a:stretch>
            <a:fillRect/>
          </a:stretch>
        </p:blipFill>
        <p:spPr>
          <a:xfrm>
            <a:off x="92964" y="0"/>
            <a:ext cx="1490472" cy="1386839"/>
          </a:xfrm>
          <a:prstGeom prst="rect">
            <a:avLst/>
          </a:prstGeom>
        </p:spPr>
      </p:pic>
      <p:sp>
        <p:nvSpPr>
          <p:cNvPr id="5" name="object 5"/>
          <p:cNvSpPr txBox="1">
            <a:spLocks noGrp="1"/>
          </p:cNvSpPr>
          <p:nvPr>
            <p:ph type="title"/>
          </p:nvPr>
        </p:nvSpPr>
        <p:spPr>
          <a:xfrm>
            <a:off x="2146172" y="2895600"/>
            <a:ext cx="8674228" cy="690574"/>
          </a:xfrm>
          <a:prstGeom prst="rect">
            <a:avLst/>
          </a:prstGeom>
        </p:spPr>
        <p:txBody>
          <a:bodyPr vert="horz" wrap="square" lIns="0" tIns="13335" rIns="0" bIns="0" rtlCol="0">
            <a:spAutoFit/>
          </a:bodyPr>
          <a:lstStyle/>
          <a:p>
            <a:pPr marL="3072765" marR="5080" indent="-3060700">
              <a:lnSpc>
                <a:spcPct val="100000"/>
              </a:lnSpc>
              <a:spcBef>
                <a:spcPts val="105"/>
              </a:spcBef>
              <a:tabLst>
                <a:tab pos="7229475" algn="l"/>
              </a:tabLst>
            </a:pPr>
            <a:r>
              <a:rPr lang="en-US" sz="4400" dirty="0">
                <a:solidFill>
                  <a:srgbClr val="000000"/>
                </a:solidFill>
              </a:rPr>
              <a:t>Bank Customer Churn Prediction</a:t>
            </a:r>
          </a:p>
        </p:txBody>
      </p:sp>
      <p:sp>
        <p:nvSpPr>
          <p:cNvPr id="7" name="object 7"/>
          <p:cNvSpPr txBox="1"/>
          <p:nvPr/>
        </p:nvSpPr>
        <p:spPr>
          <a:xfrm>
            <a:off x="10963275" y="6344411"/>
            <a:ext cx="466725" cy="431800"/>
          </a:xfrm>
          <a:prstGeom prst="rect">
            <a:avLst/>
          </a:prstGeom>
          <a:solidFill>
            <a:srgbClr val="1769A6"/>
          </a:solidFill>
        </p:spPr>
        <p:txBody>
          <a:bodyPr vert="horz" wrap="square" lIns="0" tIns="95250" rIns="0" bIns="0" rtlCol="0">
            <a:spAutoFit/>
          </a:bodyPr>
          <a:lstStyle/>
          <a:p>
            <a:pPr marL="31115" algn="ctr">
              <a:lnSpc>
                <a:spcPct val="100000"/>
              </a:lnSpc>
              <a:spcBef>
                <a:spcPts val="750"/>
              </a:spcBef>
            </a:pPr>
            <a:r>
              <a:rPr sz="1200" dirty="0">
                <a:solidFill>
                  <a:srgbClr val="FFFFFF"/>
                </a:solidFill>
                <a:latin typeface="Calibri"/>
                <a:cs typeface="Calibri"/>
              </a:rPr>
              <a:t>1</a:t>
            </a:r>
            <a:endParaRPr sz="1200" dirty="0">
              <a:latin typeface="Calibri"/>
              <a:cs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0" y="0"/>
            <a:ext cx="12192000" cy="6857998"/>
          </a:xfrm>
          <a:prstGeom prst="rect">
            <a:avLst/>
          </a:prstGeom>
        </p:spPr>
      </p:pic>
      <p:pic>
        <p:nvPicPr>
          <p:cNvPr id="3" name="object 3"/>
          <p:cNvPicPr/>
          <p:nvPr/>
        </p:nvPicPr>
        <p:blipFill>
          <a:blip r:embed="rId3" cstate="print"/>
          <a:stretch>
            <a:fillRect/>
          </a:stretch>
        </p:blipFill>
        <p:spPr>
          <a:xfrm>
            <a:off x="10712195" y="330708"/>
            <a:ext cx="1283207" cy="637032"/>
          </a:xfrm>
          <a:prstGeom prst="rect">
            <a:avLst/>
          </a:prstGeom>
        </p:spPr>
      </p:pic>
      <p:pic>
        <p:nvPicPr>
          <p:cNvPr id="4" name="object 4"/>
          <p:cNvPicPr/>
          <p:nvPr/>
        </p:nvPicPr>
        <p:blipFill>
          <a:blip r:embed="rId4" cstate="print"/>
          <a:stretch>
            <a:fillRect/>
          </a:stretch>
        </p:blipFill>
        <p:spPr>
          <a:xfrm>
            <a:off x="92964" y="0"/>
            <a:ext cx="1490472" cy="1386839"/>
          </a:xfrm>
          <a:prstGeom prst="rect">
            <a:avLst/>
          </a:prstGeom>
        </p:spPr>
      </p:pic>
      <p:sp>
        <p:nvSpPr>
          <p:cNvPr id="5" name="object 5"/>
          <p:cNvSpPr/>
          <p:nvPr/>
        </p:nvSpPr>
        <p:spPr>
          <a:xfrm>
            <a:off x="10974323" y="6344411"/>
            <a:ext cx="466725" cy="431800"/>
          </a:xfrm>
          <a:custGeom>
            <a:avLst/>
            <a:gdLst/>
            <a:ahLst/>
            <a:cxnLst/>
            <a:rect l="l" t="t" r="r" b="b"/>
            <a:pathLst>
              <a:path w="466725" h="431800">
                <a:moveTo>
                  <a:pt x="466344" y="0"/>
                </a:moveTo>
                <a:lnTo>
                  <a:pt x="0" y="0"/>
                </a:lnTo>
                <a:lnTo>
                  <a:pt x="0" y="431291"/>
                </a:lnTo>
                <a:lnTo>
                  <a:pt x="466344" y="431291"/>
                </a:lnTo>
                <a:lnTo>
                  <a:pt x="466344" y="0"/>
                </a:lnTo>
                <a:close/>
              </a:path>
            </a:pathLst>
          </a:custGeom>
          <a:solidFill>
            <a:srgbClr val="1769A6"/>
          </a:solidFill>
        </p:spPr>
        <p:txBody>
          <a:bodyPr wrap="square" lIns="0" tIns="0" rIns="0" bIns="0" rtlCol="0"/>
          <a:lstStyle/>
          <a:p>
            <a:endParaRPr/>
          </a:p>
        </p:txBody>
      </p:sp>
      <p:sp>
        <p:nvSpPr>
          <p:cNvPr id="8" name="object 8"/>
          <p:cNvSpPr txBox="1">
            <a:spLocks noGrp="1"/>
          </p:cNvSpPr>
          <p:nvPr>
            <p:ph type="sldNum" sz="quarter" idx="7"/>
          </p:nvPr>
        </p:nvSpPr>
        <p:spPr>
          <a:prstGeom prst="rect">
            <a:avLst/>
          </a:prstGeom>
        </p:spPr>
        <p:txBody>
          <a:bodyPr vert="horz" wrap="square" lIns="0" tIns="0" rIns="0" bIns="0" rtlCol="0">
            <a:spAutoFit/>
          </a:bodyPr>
          <a:lstStyle/>
          <a:p>
            <a:pPr marL="38100">
              <a:lnSpc>
                <a:spcPts val="1240"/>
              </a:lnSpc>
            </a:pPr>
            <a:fld id="{81D60167-4931-47E6-BA6A-407CBD079E47}" type="slidenum">
              <a:rPr spc="-25" dirty="0"/>
              <a:t>2</a:t>
            </a:fld>
            <a:endParaRPr spc="-25" dirty="0"/>
          </a:p>
        </p:txBody>
      </p:sp>
      <p:sp>
        <p:nvSpPr>
          <p:cNvPr id="9" name="object 6">
            <a:extLst>
              <a:ext uri="{FF2B5EF4-FFF2-40B4-BE49-F238E27FC236}">
                <a16:creationId xmlns:a16="http://schemas.microsoft.com/office/drawing/2014/main" id="{C605BA52-D1DE-5B41-45A0-F77B3B86403B}"/>
              </a:ext>
            </a:extLst>
          </p:cNvPr>
          <p:cNvSpPr txBox="1">
            <a:spLocks/>
          </p:cNvSpPr>
          <p:nvPr/>
        </p:nvSpPr>
        <p:spPr>
          <a:xfrm>
            <a:off x="6466840" y="1303731"/>
            <a:ext cx="3820160" cy="469359"/>
          </a:xfrm>
          <a:prstGeom prst="rect">
            <a:avLst/>
          </a:prstGeom>
        </p:spPr>
        <p:txBody>
          <a:bodyPr wrap="square" lIns="0" tIns="0" rIns="0" bIns="0">
            <a:spAutoFit/>
          </a:bodyPr>
          <a:lstStyle>
            <a:lvl1pPr>
              <a:defRPr sz="4000" b="0" i="0">
                <a:solidFill>
                  <a:srgbClr val="1A1A1A"/>
                </a:solidFill>
                <a:latin typeface="Trebuchet MS"/>
                <a:ea typeface="+mj-ea"/>
                <a:cs typeface="Trebuchet MS"/>
              </a:defRPr>
            </a:lvl1pPr>
          </a:lstStyle>
          <a:p>
            <a:r>
              <a:rPr lang="en-US" sz="3050" dirty="0"/>
              <a:t>Instructor:</a:t>
            </a:r>
          </a:p>
        </p:txBody>
      </p:sp>
      <p:sp>
        <p:nvSpPr>
          <p:cNvPr id="10" name="object 7">
            <a:extLst>
              <a:ext uri="{FF2B5EF4-FFF2-40B4-BE49-F238E27FC236}">
                <a16:creationId xmlns:a16="http://schemas.microsoft.com/office/drawing/2014/main" id="{61286A94-764A-0B9E-384A-A682DDFA6365}"/>
              </a:ext>
            </a:extLst>
          </p:cNvPr>
          <p:cNvSpPr txBox="1"/>
          <p:nvPr/>
        </p:nvSpPr>
        <p:spPr>
          <a:xfrm>
            <a:off x="6466840" y="2859785"/>
            <a:ext cx="2677160" cy="381515"/>
          </a:xfrm>
          <a:prstGeom prst="rect">
            <a:avLst/>
          </a:prstGeom>
        </p:spPr>
        <p:txBody>
          <a:bodyPr vert="horz" wrap="square" lIns="0" tIns="12065" rIns="0" bIns="0" rtlCol="0">
            <a:spAutoFit/>
          </a:bodyPr>
          <a:lstStyle/>
          <a:p>
            <a:pPr marL="12700" marR="5080">
              <a:lnSpc>
                <a:spcPct val="100000"/>
              </a:lnSpc>
              <a:spcBef>
                <a:spcPts val="95"/>
              </a:spcBef>
            </a:pPr>
            <a:r>
              <a:rPr lang="en-US" sz="2400" dirty="0" err="1">
                <a:solidFill>
                  <a:schemeClr val="tx1"/>
                </a:solidFill>
                <a:latin typeface="Trebuchet MS" panose="020B0603020202020204" pitchFamily="34" charset="0"/>
                <a:cs typeface="Calibri"/>
              </a:rPr>
              <a:t>Marawan</a:t>
            </a:r>
            <a:r>
              <a:rPr lang="en-US" sz="2400" dirty="0">
                <a:solidFill>
                  <a:schemeClr val="tx1"/>
                </a:solidFill>
                <a:latin typeface="Trebuchet MS" panose="020B0603020202020204" pitchFamily="34" charset="0"/>
                <a:cs typeface="Calibri"/>
              </a:rPr>
              <a:t> Ahmed</a:t>
            </a:r>
          </a:p>
        </p:txBody>
      </p:sp>
      <p:sp>
        <p:nvSpPr>
          <p:cNvPr id="13" name="Title 1">
            <a:extLst>
              <a:ext uri="{FF2B5EF4-FFF2-40B4-BE49-F238E27FC236}">
                <a16:creationId xmlns:a16="http://schemas.microsoft.com/office/drawing/2014/main" id="{B467F1F1-40C6-963D-B4A4-A9608FE38C91}"/>
              </a:ext>
            </a:extLst>
          </p:cNvPr>
          <p:cNvSpPr txBox="1">
            <a:spLocks/>
          </p:cNvSpPr>
          <p:nvPr/>
        </p:nvSpPr>
        <p:spPr>
          <a:xfrm>
            <a:off x="454863" y="1303731"/>
            <a:ext cx="4802937" cy="469359"/>
          </a:xfrm>
          <a:prstGeom prst="rect">
            <a:avLst/>
          </a:prstGeom>
        </p:spPr>
        <p:txBody>
          <a:bodyPr wrap="square" lIns="0" tIns="0" rIns="0" bIns="0">
            <a:spAutoFit/>
          </a:bodyPr>
          <a:lstStyle>
            <a:lvl1pPr>
              <a:defRPr sz="3050" b="0" i="0">
                <a:solidFill>
                  <a:srgbClr val="1A1A1A"/>
                </a:solidFill>
                <a:latin typeface="Trebuchet MS"/>
                <a:ea typeface="+mj-ea"/>
                <a:cs typeface="Trebuchet MS"/>
              </a:defRPr>
            </a:lvl1pPr>
          </a:lstStyle>
          <a:p>
            <a:r>
              <a:rPr lang="en-US" dirty="0"/>
              <a:t>Team Members:</a:t>
            </a:r>
          </a:p>
        </p:txBody>
      </p:sp>
      <p:sp>
        <p:nvSpPr>
          <p:cNvPr id="17" name="Text Placeholder 2">
            <a:extLst>
              <a:ext uri="{FF2B5EF4-FFF2-40B4-BE49-F238E27FC236}">
                <a16:creationId xmlns:a16="http://schemas.microsoft.com/office/drawing/2014/main" id="{42BE0604-519E-02C3-364F-DA58A013F1F6}"/>
              </a:ext>
            </a:extLst>
          </p:cNvPr>
          <p:cNvSpPr>
            <a:spLocks noGrp="1"/>
          </p:cNvSpPr>
          <p:nvPr>
            <p:ph type="body" idx="1"/>
          </p:nvPr>
        </p:nvSpPr>
        <p:spPr>
          <a:xfrm>
            <a:off x="1268983" y="2859785"/>
            <a:ext cx="3156903" cy="1897955"/>
          </a:xfrm>
        </p:spPr>
        <p:txBody>
          <a:bodyPr/>
          <a:lstStyle/>
          <a:p>
            <a:pPr marL="12700" marR="5080">
              <a:lnSpc>
                <a:spcPct val="100000"/>
              </a:lnSpc>
              <a:spcBef>
                <a:spcPts val="95"/>
              </a:spcBef>
            </a:pPr>
            <a:r>
              <a:rPr lang="en-US" sz="2400" dirty="0">
                <a:solidFill>
                  <a:srgbClr val="343948"/>
                </a:solidFill>
                <a:latin typeface="Trebuchet MS" panose="020B0603020202020204" pitchFamily="34" charset="0"/>
                <a:cs typeface="Calibri"/>
              </a:rPr>
              <a:t>Ayman Sayed</a:t>
            </a:r>
          </a:p>
          <a:p>
            <a:pPr marL="12700" marR="5080">
              <a:lnSpc>
                <a:spcPct val="100000"/>
              </a:lnSpc>
              <a:spcBef>
                <a:spcPts val="95"/>
              </a:spcBef>
            </a:pPr>
            <a:r>
              <a:rPr lang="en-US" sz="2400" dirty="0" err="1">
                <a:solidFill>
                  <a:srgbClr val="343948"/>
                </a:solidFill>
                <a:latin typeface="Trebuchet MS" panose="020B0603020202020204" pitchFamily="34" charset="0"/>
                <a:cs typeface="Calibri"/>
              </a:rPr>
              <a:t>Menna</a:t>
            </a:r>
            <a:r>
              <a:rPr lang="en-US" sz="2400" dirty="0">
                <a:solidFill>
                  <a:srgbClr val="343948"/>
                </a:solidFill>
                <a:latin typeface="Trebuchet MS" panose="020B0603020202020204" pitchFamily="34" charset="0"/>
                <a:cs typeface="Calibri"/>
              </a:rPr>
              <a:t> </a:t>
            </a:r>
            <a:r>
              <a:rPr lang="en-US" sz="2400" dirty="0" err="1">
                <a:solidFill>
                  <a:schemeClr val="tx1"/>
                </a:solidFill>
                <a:latin typeface="Trebuchet MS" panose="020B0603020202020204" pitchFamily="34" charset="0"/>
                <a:cs typeface="Calibri"/>
              </a:rPr>
              <a:t>Hassanin</a:t>
            </a:r>
            <a:endParaRPr lang="en-US" sz="2400" dirty="0">
              <a:solidFill>
                <a:schemeClr val="tx1"/>
              </a:solidFill>
              <a:latin typeface="Trebuchet MS" panose="020B0603020202020204" pitchFamily="34" charset="0"/>
              <a:cs typeface="Calibri"/>
            </a:endParaRPr>
          </a:p>
          <a:p>
            <a:pPr marL="12700" marR="5080">
              <a:lnSpc>
                <a:spcPct val="100000"/>
              </a:lnSpc>
              <a:spcBef>
                <a:spcPts val="95"/>
              </a:spcBef>
            </a:pPr>
            <a:r>
              <a:rPr lang="en-US" sz="2400" dirty="0">
                <a:solidFill>
                  <a:srgbClr val="343948"/>
                </a:solidFill>
                <a:latin typeface="Trebuchet MS" panose="020B0603020202020204" pitchFamily="34" charset="0"/>
                <a:cs typeface="Calibri"/>
              </a:rPr>
              <a:t>Saleh Ali</a:t>
            </a:r>
          </a:p>
          <a:p>
            <a:pPr marL="12700" marR="5080">
              <a:lnSpc>
                <a:spcPct val="100000"/>
              </a:lnSpc>
              <a:spcBef>
                <a:spcPts val="95"/>
              </a:spcBef>
            </a:pPr>
            <a:r>
              <a:rPr lang="en-US" sz="2400" dirty="0">
                <a:solidFill>
                  <a:srgbClr val="343948"/>
                </a:solidFill>
                <a:latin typeface="Trebuchet MS" panose="020B0603020202020204" pitchFamily="34" charset="0"/>
                <a:cs typeface="Calibri"/>
              </a:rPr>
              <a:t>Amgad Sabry</a:t>
            </a:r>
          </a:p>
          <a:p>
            <a:pPr marL="12700" marR="5080">
              <a:lnSpc>
                <a:spcPct val="100000"/>
              </a:lnSpc>
              <a:spcBef>
                <a:spcPts val="95"/>
              </a:spcBef>
            </a:pPr>
            <a:r>
              <a:rPr lang="en-US" sz="2400" dirty="0">
                <a:solidFill>
                  <a:srgbClr val="343948"/>
                </a:solidFill>
                <a:latin typeface="Trebuchet MS" panose="020B0603020202020204" pitchFamily="34" charset="0"/>
                <a:cs typeface="Calibri"/>
              </a:rPr>
              <a:t>Mohamed Ali</a:t>
            </a:r>
            <a:endParaRPr lang="en-US" dirty="0">
              <a:solidFill>
                <a:schemeClr val="tx1"/>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B0AE90-EEB6-8570-A819-824581ECFC01}"/>
              </a:ext>
            </a:extLst>
          </p:cNvPr>
          <p:cNvSpPr>
            <a:spLocks noGrp="1"/>
          </p:cNvSpPr>
          <p:nvPr>
            <p:ph type="title"/>
          </p:nvPr>
        </p:nvSpPr>
        <p:spPr>
          <a:xfrm>
            <a:off x="454863" y="1303731"/>
            <a:ext cx="4802937" cy="469359"/>
          </a:xfrm>
        </p:spPr>
        <p:txBody>
          <a:bodyPr/>
          <a:lstStyle/>
          <a:p>
            <a:r>
              <a:rPr lang="en-US" dirty="0"/>
              <a:t>Table of Contents</a:t>
            </a:r>
          </a:p>
        </p:txBody>
      </p:sp>
      <p:sp>
        <p:nvSpPr>
          <p:cNvPr id="3" name="Text Placeholder 2">
            <a:extLst>
              <a:ext uri="{FF2B5EF4-FFF2-40B4-BE49-F238E27FC236}">
                <a16:creationId xmlns:a16="http://schemas.microsoft.com/office/drawing/2014/main" id="{3CD63B8C-7B43-1783-DE6D-4BAC06A4D758}"/>
              </a:ext>
            </a:extLst>
          </p:cNvPr>
          <p:cNvSpPr>
            <a:spLocks noGrp="1"/>
          </p:cNvSpPr>
          <p:nvPr>
            <p:ph type="body" idx="1"/>
          </p:nvPr>
        </p:nvSpPr>
        <p:spPr>
          <a:xfrm>
            <a:off x="1268983" y="2362200"/>
            <a:ext cx="6655817" cy="3323987"/>
          </a:xfrm>
        </p:spPr>
        <p:txBody>
          <a:bodyPr/>
          <a:lstStyle/>
          <a:p>
            <a:pPr marL="457200" indent="-457200">
              <a:buFont typeface="+mj-lt"/>
              <a:buAutoNum type="arabicPeriod"/>
            </a:pPr>
            <a:r>
              <a:rPr lang="en-US" dirty="0">
                <a:solidFill>
                  <a:schemeClr val="tx1"/>
                </a:solidFill>
              </a:rPr>
              <a:t>Introduction</a:t>
            </a:r>
          </a:p>
          <a:p>
            <a:pPr marL="457200" indent="-457200">
              <a:buFont typeface="+mj-lt"/>
              <a:buAutoNum type="arabicPeriod"/>
            </a:pPr>
            <a:r>
              <a:rPr lang="en-US" dirty="0">
                <a:solidFill>
                  <a:schemeClr val="tx1"/>
                </a:solidFill>
              </a:rPr>
              <a:t>Importing libraries</a:t>
            </a:r>
          </a:p>
          <a:p>
            <a:pPr marL="457200" indent="-457200">
              <a:buFont typeface="+mj-lt"/>
              <a:buAutoNum type="arabicPeriod"/>
            </a:pPr>
            <a:r>
              <a:rPr lang="en-US" dirty="0">
                <a:solidFill>
                  <a:schemeClr val="tx1"/>
                </a:solidFill>
              </a:rPr>
              <a:t>Loading Data</a:t>
            </a:r>
          </a:p>
          <a:p>
            <a:pPr marL="457200" indent="-457200">
              <a:buFont typeface="+mj-lt"/>
              <a:buAutoNum type="arabicPeriod"/>
            </a:pPr>
            <a:r>
              <a:rPr lang="en-US" dirty="0">
                <a:solidFill>
                  <a:schemeClr val="tx1"/>
                </a:solidFill>
              </a:rPr>
              <a:t>Exploratory Data Analysis (EDA)</a:t>
            </a:r>
          </a:p>
          <a:p>
            <a:pPr marL="457200" indent="-457200">
              <a:buFont typeface="+mj-lt"/>
              <a:buAutoNum type="arabicPeriod"/>
            </a:pPr>
            <a:r>
              <a:rPr lang="en-US" dirty="0">
                <a:solidFill>
                  <a:schemeClr val="tx1"/>
                </a:solidFill>
              </a:rPr>
              <a:t>Feature Engineering</a:t>
            </a:r>
          </a:p>
          <a:p>
            <a:pPr marL="457200" indent="-457200">
              <a:buFont typeface="+mj-lt"/>
              <a:buAutoNum type="arabicPeriod"/>
            </a:pPr>
            <a:r>
              <a:rPr lang="en-US" dirty="0">
                <a:solidFill>
                  <a:schemeClr val="tx1"/>
                </a:solidFill>
              </a:rPr>
              <a:t>Data Preprocessing</a:t>
            </a:r>
          </a:p>
          <a:p>
            <a:pPr marL="457200" indent="-457200">
              <a:buFont typeface="+mj-lt"/>
              <a:buAutoNum type="arabicPeriod"/>
            </a:pPr>
            <a:r>
              <a:rPr lang="en-US" dirty="0">
                <a:solidFill>
                  <a:schemeClr val="tx1"/>
                </a:solidFill>
              </a:rPr>
              <a:t>Classification Modelling</a:t>
            </a:r>
          </a:p>
          <a:p>
            <a:pPr marL="457200" indent="-457200">
              <a:buFont typeface="+mj-lt"/>
              <a:buAutoNum type="arabicPeriod"/>
            </a:pPr>
            <a:r>
              <a:rPr lang="en-US" dirty="0">
                <a:solidFill>
                  <a:schemeClr val="tx1"/>
                </a:solidFill>
              </a:rPr>
              <a:t>Model Deployment</a:t>
            </a:r>
          </a:p>
          <a:p>
            <a:pPr marL="457200" indent="-457200">
              <a:buFont typeface="+mj-lt"/>
              <a:buAutoNum type="arabicPeriod"/>
            </a:pPr>
            <a:r>
              <a:rPr lang="en-US" dirty="0">
                <a:solidFill>
                  <a:schemeClr val="tx1"/>
                </a:solidFill>
              </a:rPr>
              <a:t>Conclusion</a:t>
            </a:r>
          </a:p>
        </p:txBody>
      </p:sp>
      <p:sp>
        <p:nvSpPr>
          <p:cNvPr id="4" name="Slide Number Placeholder 3">
            <a:extLst>
              <a:ext uri="{FF2B5EF4-FFF2-40B4-BE49-F238E27FC236}">
                <a16:creationId xmlns:a16="http://schemas.microsoft.com/office/drawing/2014/main" id="{41B5EE88-AEFD-90C4-E8D9-D973954B48A1}"/>
              </a:ext>
            </a:extLst>
          </p:cNvPr>
          <p:cNvSpPr>
            <a:spLocks noGrp="1"/>
          </p:cNvSpPr>
          <p:nvPr>
            <p:ph type="sldNum" sz="quarter" idx="7"/>
          </p:nvPr>
        </p:nvSpPr>
        <p:spPr/>
        <p:txBody>
          <a:bodyPr/>
          <a:lstStyle/>
          <a:p>
            <a:pPr marL="38100">
              <a:lnSpc>
                <a:spcPts val="1240"/>
              </a:lnSpc>
            </a:pPr>
            <a:fld id="{81D60167-4931-47E6-BA6A-407CBD079E47}" type="slidenum">
              <a:rPr lang="en-US" spc="-25" smtClean="0"/>
              <a:t>3</a:t>
            </a:fld>
            <a:endParaRPr lang="en-US" spc="-25" dirty="0"/>
          </a:p>
        </p:txBody>
      </p:sp>
    </p:spTree>
    <p:extLst>
      <p:ext uri="{BB962C8B-B14F-4D97-AF65-F5344CB8AC3E}">
        <p14:creationId xmlns:p14="http://schemas.microsoft.com/office/powerpoint/2010/main" val="348759267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0" y="0"/>
            <a:ext cx="12192000" cy="6857998"/>
          </a:xfrm>
          <a:prstGeom prst="rect">
            <a:avLst/>
          </a:prstGeom>
        </p:spPr>
      </p:pic>
      <p:pic>
        <p:nvPicPr>
          <p:cNvPr id="3" name="object 3"/>
          <p:cNvPicPr/>
          <p:nvPr/>
        </p:nvPicPr>
        <p:blipFill>
          <a:blip r:embed="rId3" cstate="print"/>
          <a:stretch>
            <a:fillRect/>
          </a:stretch>
        </p:blipFill>
        <p:spPr>
          <a:xfrm>
            <a:off x="10712195" y="330708"/>
            <a:ext cx="1283207" cy="637032"/>
          </a:xfrm>
          <a:prstGeom prst="rect">
            <a:avLst/>
          </a:prstGeom>
        </p:spPr>
      </p:pic>
      <p:pic>
        <p:nvPicPr>
          <p:cNvPr id="4" name="object 4"/>
          <p:cNvPicPr/>
          <p:nvPr/>
        </p:nvPicPr>
        <p:blipFill>
          <a:blip r:embed="rId4" cstate="print"/>
          <a:stretch>
            <a:fillRect/>
          </a:stretch>
        </p:blipFill>
        <p:spPr>
          <a:xfrm>
            <a:off x="92964" y="0"/>
            <a:ext cx="1490472" cy="1386839"/>
          </a:xfrm>
          <a:prstGeom prst="rect">
            <a:avLst/>
          </a:prstGeom>
        </p:spPr>
      </p:pic>
      <p:sp>
        <p:nvSpPr>
          <p:cNvPr id="5" name="object 5"/>
          <p:cNvSpPr/>
          <p:nvPr/>
        </p:nvSpPr>
        <p:spPr>
          <a:xfrm>
            <a:off x="10974323" y="6344411"/>
            <a:ext cx="466725" cy="431800"/>
          </a:xfrm>
          <a:custGeom>
            <a:avLst/>
            <a:gdLst/>
            <a:ahLst/>
            <a:cxnLst/>
            <a:rect l="l" t="t" r="r" b="b"/>
            <a:pathLst>
              <a:path w="466725" h="431800">
                <a:moveTo>
                  <a:pt x="466344" y="0"/>
                </a:moveTo>
                <a:lnTo>
                  <a:pt x="0" y="0"/>
                </a:lnTo>
                <a:lnTo>
                  <a:pt x="0" y="431291"/>
                </a:lnTo>
                <a:lnTo>
                  <a:pt x="466344" y="431291"/>
                </a:lnTo>
                <a:lnTo>
                  <a:pt x="466344" y="0"/>
                </a:lnTo>
                <a:close/>
              </a:path>
            </a:pathLst>
          </a:custGeom>
          <a:solidFill>
            <a:srgbClr val="1769A6"/>
          </a:solidFill>
        </p:spPr>
        <p:txBody>
          <a:bodyPr wrap="square" lIns="0" tIns="0" rIns="0" bIns="0" rtlCol="0"/>
          <a:lstStyle/>
          <a:p>
            <a:endParaRPr/>
          </a:p>
        </p:txBody>
      </p:sp>
      <p:sp>
        <p:nvSpPr>
          <p:cNvPr id="8" name="object 8"/>
          <p:cNvSpPr txBox="1">
            <a:spLocks noGrp="1"/>
          </p:cNvSpPr>
          <p:nvPr>
            <p:ph type="sldNum" sz="quarter" idx="7"/>
          </p:nvPr>
        </p:nvSpPr>
        <p:spPr>
          <a:prstGeom prst="rect">
            <a:avLst/>
          </a:prstGeom>
        </p:spPr>
        <p:txBody>
          <a:bodyPr vert="horz" wrap="square" lIns="0" tIns="0" rIns="0" bIns="0" rtlCol="0">
            <a:spAutoFit/>
          </a:bodyPr>
          <a:lstStyle/>
          <a:p>
            <a:pPr marL="38100">
              <a:lnSpc>
                <a:spcPts val="1240"/>
              </a:lnSpc>
            </a:pPr>
            <a:fld id="{81D60167-4931-47E6-BA6A-407CBD079E47}" type="slidenum">
              <a:rPr spc="-25" smtClean="0"/>
              <a:pPr marL="38100">
                <a:lnSpc>
                  <a:spcPts val="1240"/>
                </a:lnSpc>
              </a:pPr>
              <a:t>4</a:t>
            </a:fld>
            <a:endParaRPr spc="-25" dirty="0"/>
          </a:p>
        </p:txBody>
      </p:sp>
      <p:sp>
        <p:nvSpPr>
          <p:cNvPr id="7" name="object 7"/>
          <p:cNvSpPr txBox="1"/>
          <p:nvPr/>
        </p:nvSpPr>
        <p:spPr>
          <a:xfrm>
            <a:off x="1295400" y="2514600"/>
            <a:ext cx="8374253" cy="3089948"/>
          </a:xfrm>
          <a:prstGeom prst="rect">
            <a:avLst/>
          </a:prstGeom>
        </p:spPr>
        <p:txBody>
          <a:bodyPr vert="horz" wrap="square" lIns="0" tIns="12065" rIns="0" bIns="0" rtlCol="0">
            <a:spAutoFit/>
          </a:bodyPr>
          <a:lstStyle/>
          <a:p>
            <a:pPr marL="12700" algn="just">
              <a:lnSpc>
                <a:spcPct val="100000"/>
              </a:lnSpc>
              <a:spcBef>
                <a:spcPts val="95"/>
              </a:spcBef>
              <a:tabLst>
                <a:tab pos="299085" algn="l"/>
              </a:tabLst>
            </a:pPr>
            <a:r>
              <a:rPr lang="en-US" sz="2000" dirty="0">
                <a:solidFill>
                  <a:schemeClr val="tx1"/>
                </a:solidFill>
                <a:latin typeface="Tahoma"/>
                <a:ea typeface="+mn-ea"/>
                <a:cs typeface="Tahoma"/>
              </a:rPr>
              <a:t>The bank customer churn dataset serves as a valuable resource for analyzing customer retention in the banking industry. It contains detailed information about customers, including unique identifiers, demographics such as age and gender, financial metrics like credit score and account balance, and engagement indicators like tenure and product usage. The dataset categorizes customers based on their status (whether they have remained with the bank or exited) making it ideal for predictive modeling and understanding the factors influencing customer churn. By leveraging this data, businesses can enhance customer retention strategies and improve overall service quality.</a:t>
            </a:r>
            <a:endParaRPr sz="2000" dirty="0">
              <a:solidFill>
                <a:schemeClr val="tx1"/>
              </a:solidFill>
              <a:latin typeface="Tahoma"/>
              <a:ea typeface="+mn-ea"/>
              <a:cs typeface="Tahoma"/>
            </a:endParaRPr>
          </a:p>
        </p:txBody>
      </p:sp>
      <p:sp>
        <p:nvSpPr>
          <p:cNvPr id="13" name="Title 1">
            <a:extLst>
              <a:ext uri="{FF2B5EF4-FFF2-40B4-BE49-F238E27FC236}">
                <a16:creationId xmlns:a16="http://schemas.microsoft.com/office/drawing/2014/main" id="{D3132305-3178-06D9-9354-E21C662CB991}"/>
              </a:ext>
            </a:extLst>
          </p:cNvPr>
          <p:cNvSpPr>
            <a:spLocks noGrp="1"/>
          </p:cNvSpPr>
          <p:nvPr>
            <p:ph type="title"/>
          </p:nvPr>
        </p:nvSpPr>
        <p:spPr>
          <a:xfrm>
            <a:off x="454863" y="1303731"/>
            <a:ext cx="4802937" cy="469359"/>
          </a:xfrm>
        </p:spPr>
        <p:txBody>
          <a:bodyPr/>
          <a:lstStyle/>
          <a:p>
            <a:r>
              <a:rPr lang="en-US" dirty="0"/>
              <a:t>Introduction</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5030CE-5BC5-D73E-1B9B-0621E7C70365}"/>
              </a:ext>
            </a:extLst>
          </p:cNvPr>
          <p:cNvSpPr>
            <a:spLocks noGrp="1"/>
          </p:cNvSpPr>
          <p:nvPr>
            <p:ph type="title"/>
          </p:nvPr>
        </p:nvSpPr>
        <p:spPr>
          <a:xfrm>
            <a:off x="454863" y="1303731"/>
            <a:ext cx="8989288" cy="469359"/>
          </a:xfrm>
        </p:spPr>
        <p:txBody>
          <a:bodyPr/>
          <a:lstStyle/>
          <a:p>
            <a:r>
              <a:rPr lang="en-US" dirty="0">
                <a:solidFill>
                  <a:schemeClr val="tx1"/>
                </a:solidFill>
              </a:rPr>
              <a:t>Importing libraries</a:t>
            </a:r>
            <a:endParaRPr lang="en-US" dirty="0"/>
          </a:p>
        </p:txBody>
      </p:sp>
      <p:sp>
        <p:nvSpPr>
          <p:cNvPr id="4" name="Slide Number Placeholder 3">
            <a:extLst>
              <a:ext uri="{FF2B5EF4-FFF2-40B4-BE49-F238E27FC236}">
                <a16:creationId xmlns:a16="http://schemas.microsoft.com/office/drawing/2014/main" id="{29264C61-7419-A5F5-9929-6ADBF42AFE03}"/>
              </a:ext>
            </a:extLst>
          </p:cNvPr>
          <p:cNvSpPr>
            <a:spLocks noGrp="1"/>
          </p:cNvSpPr>
          <p:nvPr>
            <p:ph type="sldNum" sz="quarter" idx="7"/>
          </p:nvPr>
        </p:nvSpPr>
        <p:spPr/>
        <p:txBody>
          <a:bodyPr/>
          <a:lstStyle/>
          <a:p>
            <a:pPr marL="38100">
              <a:lnSpc>
                <a:spcPts val="1240"/>
              </a:lnSpc>
            </a:pPr>
            <a:fld id="{81D60167-4931-47E6-BA6A-407CBD079E47}" type="slidenum">
              <a:rPr lang="en-US" spc="-25" smtClean="0"/>
              <a:t>5</a:t>
            </a:fld>
            <a:endParaRPr lang="en-US" spc="-25" dirty="0"/>
          </a:p>
        </p:txBody>
      </p:sp>
      <p:grpSp>
        <p:nvGrpSpPr>
          <p:cNvPr id="9" name="Group 8">
            <a:extLst>
              <a:ext uri="{FF2B5EF4-FFF2-40B4-BE49-F238E27FC236}">
                <a16:creationId xmlns:a16="http://schemas.microsoft.com/office/drawing/2014/main" id="{8A638740-F53F-68EC-641D-8699FCB0F628}"/>
              </a:ext>
            </a:extLst>
          </p:cNvPr>
          <p:cNvGrpSpPr/>
          <p:nvPr/>
        </p:nvGrpSpPr>
        <p:grpSpPr>
          <a:xfrm>
            <a:off x="879789" y="1810694"/>
            <a:ext cx="6968810" cy="5047306"/>
            <a:chOff x="835863" y="1752600"/>
            <a:chExt cx="6248400" cy="5352106"/>
          </a:xfrm>
        </p:grpSpPr>
        <p:pic>
          <p:nvPicPr>
            <p:cNvPr id="6" name="Picture 5">
              <a:extLst>
                <a:ext uri="{FF2B5EF4-FFF2-40B4-BE49-F238E27FC236}">
                  <a16:creationId xmlns:a16="http://schemas.microsoft.com/office/drawing/2014/main" id="{838E070F-3F06-D2EC-53DD-B646CEAB68CF}"/>
                </a:ext>
              </a:extLst>
            </p:cNvPr>
            <p:cNvPicPr>
              <a:picLocks noChangeAspect="1"/>
            </p:cNvPicPr>
            <p:nvPr/>
          </p:nvPicPr>
          <p:blipFill>
            <a:blip r:embed="rId2"/>
            <a:srcRect l="24375" t="19010" r="24375"/>
            <a:stretch/>
          </p:blipFill>
          <p:spPr>
            <a:xfrm>
              <a:off x="835863" y="1752600"/>
              <a:ext cx="6248400" cy="4590106"/>
            </a:xfrm>
            <a:prstGeom prst="rect">
              <a:avLst/>
            </a:prstGeom>
          </p:spPr>
        </p:pic>
        <p:pic>
          <p:nvPicPr>
            <p:cNvPr id="8" name="Picture 7">
              <a:extLst>
                <a:ext uri="{FF2B5EF4-FFF2-40B4-BE49-F238E27FC236}">
                  <a16:creationId xmlns:a16="http://schemas.microsoft.com/office/drawing/2014/main" id="{A2285EC2-AEE1-A6EE-4CA7-6074B5A6C753}"/>
                </a:ext>
              </a:extLst>
            </p:cNvPr>
            <p:cNvPicPr>
              <a:picLocks noChangeAspect="1"/>
            </p:cNvPicPr>
            <p:nvPr/>
          </p:nvPicPr>
          <p:blipFill>
            <a:blip r:embed="rId3"/>
            <a:srcRect l="24375" t="53333" r="24375" b="35555"/>
            <a:stretch/>
          </p:blipFill>
          <p:spPr>
            <a:xfrm>
              <a:off x="835863" y="6342706"/>
              <a:ext cx="6248400" cy="762000"/>
            </a:xfrm>
            <a:prstGeom prst="rect">
              <a:avLst/>
            </a:prstGeom>
          </p:spPr>
        </p:pic>
      </p:grpSp>
    </p:spTree>
    <p:extLst>
      <p:ext uri="{BB962C8B-B14F-4D97-AF65-F5344CB8AC3E}">
        <p14:creationId xmlns:p14="http://schemas.microsoft.com/office/powerpoint/2010/main" val="389557303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BA9638-0E32-1E0D-B9A8-85C4817270B6}"/>
              </a:ext>
            </a:extLst>
          </p:cNvPr>
          <p:cNvSpPr>
            <a:spLocks noGrp="1"/>
          </p:cNvSpPr>
          <p:nvPr>
            <p:ph type="title"/>
          </p:nvPr>
        </p:nvSpPr>
        <p:spPr>
          <a:xfrm>
            <a:off x="454863" y="1303731"/>
            <a:ext cx="8989288" cy="525069"/>
          </a:xfrm>
        </p:spPr>
        <p:txBody>
          <a:bodyPr/>
          <a:lstStyle/>
          <a:p>
            <a:r>
              <a:rPr lang="en-US" dirty="0">
                <a:solidFill>
                  <a:schemeClr val="tx1"/>
                </a:solidFill>
              </a:rPr>
              <a:t>Loading Data</a:t>
            </a:r>
            <a:br>
              <a:rPr lang="en-US" dirty="0">
                <a:solidFill>
                  <a:schemeClr val="tx1"/>
                </a:solidFill>
              </a:rPr>
            </a:br>
            <a:endParaRPr lang="en-US" dirty="0"/>
          </a:p>
        </p:txBody>
      </p:sp>
      <p:sp>
        <p:nvSpPr>
          <p:cNvPr id="4" name="Slide Number Placeholder 3">
            <a:extLst>
              <a:ext uri="{FF2B5EF4-FFF2-40B4-BE49-F238E27FC236}">
                <a16:creationId xmlns:a16="http://schemas.microsoft.com/office/drawing/2014/main" id="{752566E8-55F2-CEE8-9DE2-E77F90E70CFE}"/>
              </a:ext>
            </a:extLst>
          </p:cNvPr>
          <p:cNvSpPr>
            <a:spLocks noGrp="1"/>
          </p:cNvSpPr>
          <p:nvPr>
            <p:ph type="sldNum" sz="quarter" idx="7"/>
          </p:nvPr>
        </p:nvSpPr>
        <p:spPr/>
        <p:txBody>
          <a:bodyPr/>
          <a:lstStyle/>
          <a:p>
            <a:pPr marL="38100">
              <a:lnSpc>
                <a:spcPts val="1240"/>
              </a:lnSpc>
            </a:pPr>
            <a:fld id="{81D60167-4931-47E6-BA6A-407CBD079E47}" type="slidenum">
              <a:rPr lang="en-US" spc="-25" smtClean="0"/>
              <a:t>6</a:t>
            </a:fld>
            <a:endParaRPr lang="en-US" spc="-25" dirty="0"/>
          </a:p>
        </p:txBody>
      </p:sp>
      <p:grpSp>
        <p:nvGrpSpPr>
          <p:cNvPr id="10" name="Group 9">
            <a:extLst>
              <a:ext uri="{FF2B5EF4-FFF2-40B4-BE49-F238E27FC236}">
                <a16:creationId xmlns:a16="http://schemas.microsoft.com/office/drawing/2014/main" id="{812B3685-6B34-ED7A-553B-9396C5E714CC}"/>
              </a:ext>
            </a:extLst>
          </p:cNvPr>
          <p:cNvGrpSpPr/>
          <p:nvPr/>
        </p:nvGrpSpPr>
        <p:grpSpPr>
          <a:xfrm>
            <a:off x="685800" y="3276600"/>
            <a:ext cx="10694418" cy="2589623"/>
            <a:chOff x="1268982" y="2964646"/>
            <a:chExt cx="10694418" cy="2589623"/>
          </a:xfrm>
        </p:grpSpPr>
        <p:pic>
          <p:nvPicPr>
            <p:cNvPr id="7" name="Picture 6">
              <a:extLst>
                <a:ext uri="{FF2B5EF4-FFF2-40B4-BE49-F238E27FC236}">
                  <a16:creationId xmlns:a16="http://schemas.microsoft.com/office/drawing/2014/main" id="{B0E77BFC-AA54-FC87-29D3-E9EDF9B82172}"/>
                </a:ext>
              </a:extLst>
            </p:cNvPr>
            <p:cNvPicPr>
              <a:picLocks noChangeAspect="1"/>
            </p:cNvPicPr>
            <p:nvPr/>
          </p:nvPicPr>
          <p:blipFill>
            <a:blip r:embed="rId4"/>
            <a:srcRect l="23125" t="54444" r="28750" b="16667"/>
            <a:stretch/>
          </p:blipFill>
          <p:spPr>
            <a:xfrm>
              <a:off x="1268982" y="2964647"/>
              <a:ext cx="7669265" cy="2589622"/>
            </a:xfrm>
            <a:prstGeom prst="rect">
              <a:avLst/>
            </a:prstGeom>
          </p:spPr>
        </p:pic>
        <p:pic>
          <p:nvPicPr>
            <p:cNvPr id="9" name="Picture 8">
              <a:extLst>
                <a:ext uri="{FF2B5EF4-FFF2-40B4-BE49-F238E27FC236}">
                  <a16:creationId xmlns:a16="http://schemas.microsoft.com/office/drawing/2014/main" id="{42987118-3E61-999A-EDF2-9CDBB3991C2D}"/>
                </a:ext>
              </a:extLst>
            </p:cNvPr>
            <p:cNvPicPr>
              <a:picLocks noChangeAspect="1"/>
            </p:cNvPicPr>
            <p:nvPr/>
          </p:nvPicPr>
          <p:blipFill>
            <a:blip r:embed="rId5"/>
            <a:srcRect l="53125" t="54445" r="24375" b="16666"/>
            <a:stretch/>
          </p:blipFill>
          <p:spPr>
            <a:xfrm>
              <a:off x="8862047" y="2964646"/>
              <a:ext cx="3101353" cy="2589621"/>
            </a:xfrm>
            <a:prstGeom prst="rect">
              <a:avLst/>
            </a:prstGeom>
          </p:spPr>
        </p:pic>
      </p:grpSp>
      <p:pic>
        <p:nvPicPr>
          <p:cNvPr id="6" name="Picture 5">
            <a:extLst>
              <a:ext uri="{FF2B5EF4-FFF2-40B4-BE49-F238E27FC236}">
                <a16:creationId xmlns:a16="http://schemas.microsoft.com/office/drawing/2014/main" id="{CF4031B4-DCEC-407A-FD28-4CF3B177B96B}"/>
              </a:ext>
            </a:extLst>
          </p:cNvPr>
          <p:cNvPicPr>
            <a:picLocks noChangeAspect="1"/>
          </p:cNvPicPr>
          <p:nvPr/>
        </p:nvPicPr>
        <p:blipFill>
          <a:blip r:embed="rId6"/>
          <a:srcRect l="21250" t="46667" r="24375" b="35555"/>
          <a:stretch/>
        </p:blipFill>
        <p:spPr>
          <a:xfrm>
            <a:off x="1268982" y="1981200"/>
            <a:ext cx="6503418" cy="1143000"/>
          </a:xfrm>
          <a:prstGeom prst="rect">
            <a:avLst/>
          </a:prstGeom>
        </p:spPr>
      </p:pic>
    </p:spTree>
    <p:extLst>
      <p:ext uri="{BB962C8B-B14F-4D97-AF65-F5344CB8AC3E}">
        <p14:creationId xmlns:p14="http://schemas.microsoft.com/office/powerpoint/2010/main" val="1561642381"/>
      </p:ext>
    </p:extLst>
  </p:cSld>
  <p:clrMapOvr>
    <a:masterClrMapping/>
  </p:clrMapOvr>
  <p:extLst>
    <p:ext uri="{6950BFC3-D8DA-4A85-94F7-54DA5524770B}">
      <p188:commentRel xmlns:p188="http://schemas.microsoft.com/office/powerpoint/2018/8/main" r:id="rId3"/>
    </p:ext>
  </p:extLs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BA9638-0E32-1E0D-B9A8-85C4817270B6}"/>
              </a:ext>
            </a:extLst>
          </p:cNvPr>
          <p:cNvSpPr>
            <a:spLocks noGrp="1"/>
          </p:cNvSpPr>
          <p:nvPr>
            <p:ph type="title"/>
          </p:nvPr>
        </p:nvSpPr>
        <p:spPr>
          <a:xfrm>
            <a:off x="454863" y="1303731"/>
            <a:ext cx="8989288" cy="938719"/>
          </a:xfrm>
        </p:spPr>
        <p:txBody>
          <a:bodyPr/>
          <a:lstStyle/>
          <a:p>
            <a:r>
              <a:rPr lang="en-US" dirty="0">
                <a:solidFill>
                  <a:schemeClr val="tx1"/>
                </a:solidFill>
              </a:rPr>
              <a:t>Exploratory Data Analysis (EDA)</a:t>
            </a:r>
            <a:br>
              <a:rPr lang="en-US" dirty="0">
                <a:solidFill>
                  <a:schemeClr val="tx1"/>
                </a:solidFill>
              </a:rPr>
            </a:br>
            <a:endParaRPr lang="en-US" dirty="0"/>
          </a:p>
        </p:txBody>
      </p:sp>
      <p:sp>
        <p:nvSpPr>
          <p:cNvPr id="4" name="Slide Number Placeholder 3">
            <a:extLst>
              <a:ext uri="{FF2B5EF4-FFF2-40B4-BE49-F238E27FC236}">
                <a16:creationId xmlns:a16="http://schemas.microsoft.com/office/drawing/2014/main" id="{752566E8-55F2-CEE8-9DE2-E77F90E70CFE}"/>
              </a:ext>
            </a:extLst>
          </p:cNvPr>
          <p:cNvSpPr>
            <a:spLocks noGrp="1"/>
          </p:cNvSpPr>
          <p:nvPr>
            <p:ph type="sldNum" sz="quarter" idx="7"/>
          </p:nvPr>
        </p:nvSpPr>
        <p:spPr/>
        <p:txBody>
          <a:bodyPr/>
          <a:lstStyle/>
          <a:p>
            <a:pPr marL="38100">
              <a:lnSpc>
                <a:spcPts val="1240"/>
              </a:lnSpc>
            </a:pPr>
            <a:fld id="{81D60167-4931-47E6-BA6A-407CBD079E47}" type="slidenum">
              <a:rPr lang="en-US" spc="-25" smtClean="0"/>
              <a:t>7</a:t>
            </a:fld>
            <a:endParaRPr lang="en-US" spc="-25" dirty="0"/>
          </a:p>
        </p:txBody>
      </p:sp>
      <p:pic>
        <p:nvPicPr>
          <p:cNvPr id="5" name="Picture 4">
            <a:extLst>
              <a:ext uri="{FF2B5EF4-FFF2-40B4-BE49-F238E27FC236}">
                <a16:creationId xmlns:a16="http://schemas.microsoft.com/office/drawing/2014/main" id="{BB5DC71C-8337-FF41-898D-5689ADEE6F4A}"/>
              </a:ext>
            </a:extLst>
          </p:cNvPr>
          <p:cNvPicPr>
            <a:picLocks noChangeAspect="1"/>
          </p:cNvPicPr>
          <p:nvPr/>
        </p:nvPicPr>
        <p:blipFill>
          <a:blip r:embed="rId3"/>
          <a:stretch>
            <a:fillRect/>
          </a:stretch>
        </p:blipFill>
        <p:spPr>
          <a:xfrm>
            <a:off x="990600" y="1856291"/>
            <a:ext cx="6515262" cy="4786723"/>
          </a:xfrm>
          <a:prstGeom prst="rect">
            <a:avLst/>
          </a:prstGeom>
        </p:spPr>
      </p:pic>
    </p:spTree>
    <p:extLst>
      <p:ext uri="{BB962C8B-B14F-4D97-AF65-F5344CB8AC3E}">
        <p14:creationId xmlns:p14="http://schemas.microsoft.com/office/powerpoint/2010/main" val="66204313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BA9638-0E32-1E0D-B9A8-85C4817270B6}"/>
              </a:ext>
            </a:extLst>
          </p:cNvPr>
          <p:cNvSpPr>
            <a:spLocks noGrp="1"/>
          </p:cNvSpPr>
          <p:nvPr>
            <p:ph type="title"/>
          </p:nvPr>
        </p:nvSpPr>
        <p:spPr>
          <a:xfrm>
            <a:off x="454863" y="1303731"/>
            <a:ext cx="8989288" cy="469359"/>
          </a:xfrm>
        </p:spPr>
        <p:txBody>
          <a:bodyPr/>
          <a:lstStyle/>
          <a:p>
            <a:r>
              <a:rPr lang="en-US" dirty="0">
                <a:solidFill>
                  <a:schemeClr val="tx1"/>
                </a:solidFill>
              </a:rPr>
              <a:t>Exploratory Data Analysis (EDA)</a:t>
            </a:r>
            <a:endParaRPr lang="en-US" dirty="0"/>
          </a:p>
        </p:txBody>
      </p:sp>
      <p:sp>
        <p:nvSpPr>
          <p:cNvPr id="4" name="Slide Number Placeholder 3">
            <a:extLst>
              <a:ext uri="{FF2B5EF4-FFF2-40B4-BE49-F238E27FC236}">
                <a16:creationId xmlns:a16="http://schemas.microsoft.com/office/drawing/2014/main" id="{752566E8-55F2-CEE8-9DE2-E77F90E70CFE}"/>
              </a:ext>
            </a:extLst>
          </p:cNvPr>
          <p:cNvSpPr>
            <a:spLocks noGrp="1"/>
          </p:cNvSpPr>
          <p:nvPr>
            <p:ph type="sldNum" sz="quarter" idx="7"/>
          </p:nvPr>
        </p:nvSpPr>
        <p:spPr/>
        <p:txBody>
          <a:bodyPr/>
          <a:lstStyle/>
          <a:p>
            <a:pPr marL="38100">
              <a:lnSpc>
                <a:spcPts val="1240"/>
              </a:lnSpc>
            </a:pPr>
            <a:fld id="{81D60167-4931-47E6-BA6A-407CBD079E47}" type="slidenum">
              <a:rPr lang="en-US" spc="-25" smtClean="0"/>
              <a:t>8</a:t>
            </a:fld>
            <a:endParaRPr lang="en-US" spc="-25" dirty="0"/>
          </a:p>
        </p:txBody>
      </p:sp>
      <p:pic>
        <p:nvPicPr>
          <p:cNvPr id="5" name="Picture 4">
            <a:extLst>
              <a:ext uri="{FF2B5EF4-FFF2-40B4-BE49-F238E27FC236}">
                <a16:creationId xmlns:a16="http://schemas.microsoft.com/office/drawing/2014/main" id="{0181FED8-623E-16A6-88CE-A88E35D63CF8}"/>
              </a:ext>
            </a:extLst>
          </p:cNvPr>
          <p:cNvPicPr>
            <a:picLocks noChangeAspect="1"/>
          </p:cNvPicPr>
          <p:nvPr/>
        </p:nvPicPr>
        <p:blipFill>
          <a:blip r:embed="rId3"/>
          <a:stretch>
            <a:fillRect/>
          </a:stretch>
        </p:blipFill>
        <p:spPr>
          <a:xfrm>
            <a:off x="241109" y="2184400"/>
            <a:ext cx="11709781" cy="3886200"/>
          </a:xfrm>
          <a:prstGeom prst="rect">
            <a:avLst/>
          </a:prstGeom>
        </p:spPr>
      </p:pic>
    </p:spTree>
    <p:extLst>
      <p:ext uri="{BB962C8B-B14F-4D97-AF65-F5344CB8AC3E}">
        <p14:creationId xmlns:p14="http://schemas.microsoft.com/office/powerpoint/2010/main" val="215859121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CD70C2E0-A2A3-4A3C-9FE3-B7B819C711BD}"/>
              </a:ext>
            </a:extLst>
          </p:cNvPr>
          <p:cNvSpPr>
            <a:spLocks noGrp="1"/>
          </p:cNvSpPr>
          <p:nvPr>
            <p:ph type="sldNum" sz="quarter" idx="7"/>
          </p:nvPr>
        </p:nvSpPr>
        <p:spPr/>
        <p:txBody>
          <a:bodyPr/>
          <a:lstStyle/>
          <a:p>
            <a:pPr marL="38100">
              <a:lnSpc>
                <a:spcPts val="1240"/>
              </a:lnSpc>
            </a:pPr>
            <a:fld id="{81D60167-4931-47E6-BA6A-407CBD079E47}" type="slidenum">
              <a:rPr lang="en-US" spc="-25" smtClean="0"/>
              <a:t>9</a:t>
            </a:fld>
            <a:endParaRPr lang="en-US" spc="-25" dirty="0"/>
          </a:p>
        </p:txBody>
      </p:sp>
      <p:pic>
        <p:nvPicPr>
          <p:cNvPr id="4098" name="Picture 2">
            <a:extLst>
              <a:ext uri="{FF2B5EF4-FFF2-40B4-BE49-F238E27FC236}">
                <a16:creationId xmlns:a16="http://schemas.microsoft.com/office/drawing/2014/main" id="{073572C4-E8CF-52EC-5565-3D937AE0A19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4862" y="1800229"/>
            <a:ext cx="10365537" cy="4842785"/>
          </a:xfrm>
          <a:prstGeom prst="rect">
            <a:avLst/>
          </a:prstGeom>
          <a:noFill/>
          <a:extLst>
            <a:ext uri="{909E8E84-426E-40DD-AFC4-6F175D3DCCD1}">
              <a14:hiddenFill xmlns:a14="http://schemas.microsoft.com/office/drawing/2010/main">
                <a:solidFill>
                  <a:srgbClr val="FFFFFF"/>
                </a:solidFill>
              </a14:hiddenFill>
            </a:ext>
          </a:extLst>
        </p:spPr>
      </p:pic>
      <p:sp>
        <p:nvSpPr>
          <p:cNvPr id="10" name="Title 1">
            <a:extLst>
              <a:ext uri="{FF2B5EF4-FFF2-40B4-BE49-F238E27FC236}">
                <a16:creationId xmlns:a16="http://schemas.microsoft.com/office/drawing/2014/main" id="{9627D9FB-66D9-2FBD-E764-8EA1F13B55D6}"/>
              </a:ext>
            </a:extLst>
          </p:cNvPr>
          <p:cNvSpPr>
            <a:spLocks noGrp="1"/>
          </p:cNvSpPr>
          <p:nvPr>
            <p:ph type="title"/>
          </p:nvPr>
        </p:nvSpPr>
        <p:spPr>
          <a:xfrm>
            <a:off x="454863" y="1303731"/>
            <a:ext cx="8989288" cy="469359"/>
          </a:xfrm>
        </p:spPr>
        <p:txBody>
          <a:bodyPr/>
          <a:lstStyle/>
          <a:p>
            <a:r>
              <a:rPr lang="en-US" dirty="0">
                <a:solidFill>
                  <a:schemeClr val="tx1"/>
                </a:solidFill>
              </a:rPr>
              <a:t>Exploratory Data Analysis (EDA) : Data Visualization</a:t>
            </a:r>
            <a:endParaRPr lang="en-US" dirty="0"/>
          </a:p>
        </p:txBody>
      </p:sp>
    </p:spTree>
    <p:extLst>
      <p:ext uri="{BB962C8B-B14F-4D97-AF65-F5344CB8AC3E}">
        <p14:creationId xmlns:p14="http://schemas.microsoft.com/office/powerpoint/2010/main" val="371463607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13DFBA-FEF4-D0F3-1290-130B4EB95B72}"/>
              </a:ext>
            </a:extLst>
          </p:cNvPr>
          <p:cNvSpPr>
            <a:spLocks noGrp="1"/>
          </p:cNvSpPr>
          <p:nvPr>
            <p:ph type="title"/>
          </p:nvPr>
        </p:nvSpPr>
        <p:spPr>
          <a:xfrm>
            <a:off x="454863" y="1303731"/>
            <a:ext cx="8989288" cy="469359"/>
          </a:xfrm>
        </p:spPr>
        <p:txBody>
          <a:bodyPr/>
          <a:lstStyle/>
          <a:p>
            <a:r>
              <a:rPr lang="en-US" dirty="0">
                <a:solidFill>
                  <a:schemeClr val="tx1"/>
                </a:solidFill>
              </a:rPr>
              <a:t>Exploratory Data Analysis (EDA) : Data Visualization</a:t>
            </a:r>
            <a:endParaRPr lang="en-US" dirty="0"/>
          </a:p>
        </p:txBody>
      </p:sp>
      <p:sp>
        <p:nvSpPr>
          <p:cNvPr id="4" name="Slide Number Placeholder 3">
            <a:extLst>
              <a:ext uri="{FF2B5EF4-FFF2-40B4-BE49-F238E27FC236}">
                <a16:creationId xmlns:a16="http://schemas.microsoft.com/office/drawing/2014/main" id="{5BFEC198-AD8E-FFD7-D989-E303EBD0A0B1}"/>
              </a:ext>
            </a:extLst>
          </p:cNvPr>
          <p:cNvSpPr>
            <a:spLocks noGrp="1"/>
          </p:cNvSpPr>
          <p:nvPr>
            <p:ph type="sldNum" sz="quarter" idx="7"/>
          </p:nvPr>
        </p:nvSpPr>
        <p:spPr/>
        <p:txBody>
          <a:bodyPr/>
          <a:lstStyle/>
          <a:p>
            <a:pPr marL="38100">
              <a:lnSpc>
                <a:spcPts val="1240"/>
              </a:lnSpc>
            </a:pPr>
            <a:fld id="{81D60167-4931-47E6-BA6A-407CBD079E47}" type="slidenum">
              <a:rPr lang="en-US" spc="-25" smtClean="0"/>
              <a:t>10</a:t>
            </a:fld>
            <a:endParaRPr lang="en-US" spc="-25" dirty="0"/>
          </a:p>
        </p:txBody>
      </p:sp>
      <p:pic>
        <p:nvPicPr>
          <p:cNvPr id="3074" name="Picture 2">
            <a:extLst>
              <a:ext uri="{FF2B5EF4-FFF2-40B4-BE49-F238E27FC236}">
                <a16:creationId xmlns:a16="http://schemas.microsoft.com/office/drawing/2014/main" id="{DA0680B4-EAD4-2FE9-AC79-03E5660D298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36277" y="1857708"/>
            <a:ext cx="4778723" cy="2409492"/>
          </a:xfrm>
          <a:prstGeom prst="rect">
            <a:avLst/>
          </a:prstGeom>
          <a:noFill/>
          <a:extLst>
            <a:ext uri="{909E8E84-426E-40DD-AFC4-6F175D3DCCD1}">
              <a14:hiddenFill xmlns:a14="http://schemas.microsoft.com/office/drawing/2010/main">
                <a:solidFill>
                  <a:srgbClr val="FFFFFF"/>
                </a:solidFill>
              </a14:hiddenFill>
            </a:ext>
          </a:extLst>
        </p:spPr>
      </p:pic>
      <p:pic>
        <p:nvPicPr>
          <p:cNvPr id="12" name="Picture 11">
            <a:extLst>
              <a:ext uri="{FF2B5EF4-FFF2-40B4-BE49-F238E27FC236}">
                <a16:creationId xmlns:a16="http://schemas.microsoft.com/office/drawing/2014/main" id="{658A640A-15CA-1765-7682-379F0FC88FD4}"/>
              </a:ext>
            </a:extLst>
          </p:cNvPr>
          <p:cNvPicPr>
            <a:picLocks noChangeAspect="1"/>
          </p:cNvPicPr>
          <p:nvPr/>
        </p:nvPicPr>
        <p:blipFill>
          <a:blip r:embed="rId3">
            <a:extLst>
              <a:ext uri="{28A0092B-C50C-407E-A947-70E740481C1C}">
                <a14:useLocalDpi xmlns:a14="http://schemas.microsoft.com/office/drawing/2010/main" val="0"/>
              </a:ext>
            </a:extLst>
          </a:blip>
          <a:srcRect l="2005" t="9091" r="1787" b="6062"/>
          <a:stretch/>
        </p:blipFill>
        <p:spPr>
          <a:xfrm>
            <a:off x="1219200" y="4351818"/>
            <a:ext cx="3898653" cy="2274214"/>
          </a:xfrm>
          <a:prstGeom prst="rect">
            <a:avLst/>
          </a:prstGeom>
        </p:spPr>
      </p:pic>
      <p:pic>
        <p:nvPicPr>
          <p:cNvPr id="14" name="Picture 13">
            <a:extLst>
              <a:ext uri="{FF2B5EF4-FFF2-40B4-BE49-F238E27FC236}">
                <a16:creationId xmlns:a16="http://schemas.microsoft.com/office/drawing/2014/main" id="{2C65A9A7-2879-8299-2008-F6E772AE1D29}"/>
              </a:ext>
            </a:extLst>
          </p:cNvPr>
          <p:cNvPicPr>
            <a:picLocks noChangeAspect="1"/>
          </p:cNvPicPr>
          <p:nvPr/>
        </p:nvPicPr>
        <p:blipFill>
          <a:blip r:embed="rId4">
            <a:extLst>
              <a:ext uri="{28A0092B-C50C-407E-A947-70E740481C1C}">
                <a14:useLocalDpi xmlns:a14="http://schemas.microsoft.com/office/drawing/2010/main" val="0"/>
              </a:ext>
            </a:extLst>
          </a:blip>
          <a:srcRect l="2150" t="8391" r="1230" b="6762"/>
          <a:stretch/>
        </p:blipFill>
        <p:spPr>
          <a:xfrm>
            <a:off x="6705600" y="4355186"/>
            <a:ext cx="3898653" cy="2274214"/>
          </a:xfrm>
          <a:prstGeom prst="rect">
            <a:avLst/>
          </a:prstGeom>
        </p:spPr>
      </p:pic>
      <p:pic>
        <p:nvPicPr>
          <p:cNvPr id="5" name="Picture 4">
            <a:extLst>
              <a:ext uri="{FF2B5EF4-FFF2-40B4-BE49-F238E27FC236}">
                <a16:creationId xmlns:a16="http://schemas.microsoft.com/office/drawing/2014/main" id="{0464AF53-01B9-22EB-BC28-F734D345ABF3}"/>
              </a:ext>
            </a:extLst>
          </p:cNvPr>
          <p:cNvPicPr>
            <a:picLocks noChangeAspect="1"/>
          </p:cNvPicPr>
          <p:nvPr/>
        </p:nvPicPr>
        <p:blipFill>
          <a:blip r:embed="rId5"/>
          <a:srcRect l="2178" r="2178"/>
          <a:stretch/>
        </p:blipFill>
        <p:spPr>
          <a:xfrm>
            <a:off x="6484376" y="1795065"/>
            <a:ext cx="3898653" cy="2373959"/>
          </a:xfrm>
          <a:prstGeom prst="rect">
            <a:avLst/>
          </a:prstGeom>
        </p:spPr>
      </p:pic>
    </p:spTree>
    <p:extLst>
      <p:ext uri="{BB962C8B-B14F-4D97-AF65-F5344CB8AC3E}">
        <p14:creationId xmlns:p14="http://schemas.microsoft.com/office/powerpoint/2010/main" val="89567787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E42E09-74D1-589E-2D9E-827C02EC5640}"/>
              </a:ext>
            </a:extLst>
          </p:cNvPr>
          <p:cNvSpPr>
            <a:spLocks noGrp="1"/>
          </p:cNvSpPr>
          <p:nvPr>
            <p:ph type="title"/>
          </p:nvPr>
        </p:nvSpPr>
        <p:spPr>
          <a:xfrm>
            <a:off x="454863" y="1303731"/>
            <a:ext cx="8989288" cy="469359"/>
          </a:xfrm>
        </p:spPr>
        <p:txBody>
          <a:bodyPr/>
          <a:lstStyle/>
          <a:p>
            <a:r>
              <a:rPr lang="en-US" dirty="0">
                <a:solidFill>
                  <a:schemeClr val="tx1"/>
                </a:solidFill>
              </a:rPr>
              <a:t>Exploratory Data Analysis (EDA) : Outliers</a:t>
            </a:r>
            <a:endParaRPr lang="en-US" dirty="0"/>
          </a:p>
        </p:txBody>
      </p:sp>
      <p:sp>
        <p:nvSpPr>
          <p:cNvPr id="4" name="Slide Number Placeholder 3">
            <a:extLst>
              <a:ext uri="{FF2B5EF4-FFF2-40B4-BE49-F238E27FC236}">
                <a16:creationId xmlns:a16="http://schemas.microsoft.com/office/drawing/2014/main" id="{00EF4184-EC1B-9D88-00DA-58101070666E}"/>
              </a:ext>
            </a:extLst>
          </p:cNvPr>
          <p:cNvSpPr>
            <a:spLocks noGrp="1"/>
          </p:cNvSpPr>
          <p:nvPr>
            <p:ph type="sldNum" sz="quarter" idx="7"/>
          </p:nvPr>
        </p:nvSpPr>
        <p:spPr/>
        <p:txBody>
          <a:bodyPr/>
          <a:lstStyle/>
          <a:p>
            <a:pPr marL="38100">
              <a:lnSpc>
                <a:spcPts val="1240"/>
              </a:lnSpc>
            </a:pPr>
            <a:fld id="{81D60167-4931-47E6-BA6A-407CBD079E47}" type="slidenum">
              <a:rPr lang="en-US" spc="-25" smtClean="0"/>
              <a:t>11</a:t>
            </a:fld>
            <a:endParaRPr lang="en-US" spc="-25" dirty="0"/>
          </a:p>
        </p:txBody>
      </p:sp>
      <p:pic>
        <p:nvPicPr>
          <p:cNvPr id="14" name="Picture 13">
            <a:extLst>
              <a:ext uri="{FF2B5EF4-FFF2-40B4-BE49-F238E27FC236}">
                <a16:creationId xmlns:a16="http://schemas.microsoft.com/office/drawing/2014/main" id="{AD0E4D5F-4C04-761A-AEA3-8A9DCCE56C5F}"/>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162697" y="4038599"/>
            <a:ext cx="3122079" cy="2286002"/>
          </a:xfrm>
          <a:prstGeom prst="rect">
            <a:avLst/>
          </a:prstGeom>
        </p:spPr>
      </p:pic>
      <p:pic>
        <p:nvPicPr>
          <p:cNvPr id="16" name="Picture 15">
            <a:extLst>
              <a:ext uri="{FF2B5EF4-FFF2-40B4-BE49-F238E27FC236}">
                <a16:creationId xmlns:a16="http://schemas.microsoft.com/office/drawing/2014/main" id="{0CE12DB5-2E16-F12C-E3CC-FF2FA57BBA43}"/>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406854" y="1770047"/>
            <a:ext cx="2937546" cy="2268551"/>
          </a:xfrm>
          <a:prstGeom prst="rect">
            <a:avLst/>
          </a:prstGeom>
        </p:spPr>
      </p:pic>
      <p:pic>
        <p:nvPicPr>
          <p:cNvPr id="18" name="Picture 17">
            <a:extLst>
              <a:ext uri="{FF2B5EF4-FFF2-40B4-BE49-F238E27FC236}">
                <a16:creationId xmlns:a16="http://schemas.microsoft.com/office/drawing/2014/main" id="{739F1898-38DC-4A12-7A4C-E70066A87A4A}"/>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9406854" y="4039129"/>
            <a:ext cx="2937546" cy="2282429"/>
          </a:xfrm>
          <a:prstGeom prst="rect">
            <a:avLst/>
          </a:prstGeom>
        </p:spPr>
      </p:pic>
      <p:pic>
        <p:nvPicPr>
          <p:cNvPr id="20" name="Picture 19">
            <a:extLst>
              <a:ext uri="{FF2B5EF4-FFF2-40B4-BE49-F238E27FC236}">
                <a16:creationId xmlns:a16="http://schemas.microsoft.com/office/drawing/2014/main" id="{4FE2B661-2A10-79F6-1786-A363E799DE15}"/>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6284775" y="4038600"/>
            <a:ext cx="3122079" cy="2286000"/>
          </a:xfrm>
          <a:prstGeom prst="rect">
            <a:avLst/>
          </a:prstGeom>
        </p:spPr>
      </p:pic>
      <p:pic>
        <p:nvPicPr>
          <p:cNvPr id="22" name="Picture 21">
            <a:extLst>
              <a:ext uri="{FF2B5EF4-FFF2-40B4-BE49-F238E27FC236}">
                <a16:creationId xmlns:a16="http://schemas.microsoft.com/office/drawing/2014/main" id="{EAF2C11F-B347-7A79-5297-F73727A91C28}"/>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6322071" y="1770048"/>
            <a:ext cx="3122078" cy="2268551"/>
          </a:xfrm>
          <a:prstGeom prst="rect">
            <a:avLst/>
          </a:prstGeom>
        </p:spPr>
      </p:pic>
      <p:pic>
        <p:nvPicPr>
          <p:cNvPr id="24" name="Picture 23">
            <a:extLst>
              <a:ext uri="{FF2B5EF4-FFF2-40B4-BE49-F238E27FC236}">
                <a16:creationId xmlns:a16="http://schemas.microsoft.com/office/drawing/2014/main" id="{2195464F-18C5-24A3-002D-BADF9676B0C9}"/>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3162697" y="1770048"/>
            <a:ext cx="3122080" cy="2268551"/>
          </a:xfrm>
          <a:prstGeom prst="rect">
            <a:avLst/>
          </a:prstGeom>
        </p:spPr>
      </p:pic>
      <p:pic>
        <p:nvPicPr>
          <p:cNvPr id="26" name="Picture 25">
            <a:extLst>
              <a:ext uri="{FF2B5EF4-FFF2-40B4-BE49-F238E27FC236}">
                <a16:creationId xmlns:a16="http://schemas.microsoft.com/office/drawing/2014/main" id="{EDD554BC-7AF8-F18A-1E98-5EF026694BC8}"/>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1556" y="4039128"/>
            <a:ext cx="3125756" cy="2282431"/>
          </a:xfrm>
          <a:prstGeom prst="rect">
            <a:avLst/>
          </a:prstGeom>
        </p:spPr>
      </p:pic>
      <p:pic>
        <p:nvPicPr>
          <p:cNvPr id="28" name="Picture 27">
            <a:extLst>
              <a:ext uri="{FF2B5EF4-FFF2-40B4-BE49-F238E27FC236}">
                <a16:creationId xmlns:a16="http://schemas.microsoft.com/office/drawing/2014/main" id="{D93F6B1C-BB5F-08D5-153E-9EA221515537}"/>
              </a:ext>
            </a:extLst>
          </p:cNvPr>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1555" y="1770049"/>
            <a:ext cx="3125756" cy="2268550"/>
          </a:xfrm>
          <a:prstGeom prst="rect">
            <a:avLst/>
          </a:prstGeom>
        </p:spPr>
      </p:pic>
    </p:spTree>
    <p:extLst>
      <p:ext uri="{BB962C8B-B14F-4D97-AF65-F5344CB8AC3E}">
        <p14:creationId xmlns:p14="http://schemas.microsoft.com/office/powerpoint/2010/main" val="356626313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30ACB681-B20F-6ED8-3400-C1344614859B}"/>
              </a:ext>
            </a:extLst>
          </p:cNvPr>
          <p:cNvSpPr>
            <a:spLocks noGrp="1"/>
          </p:cNvSpPr>
          <p:nvPr>
            <p:ph type="sldNum" sz="quarter" idx="7"/>
          </p:nvPr>
        </p:nvSpPr>
        <p:spPr/>
        <p:txBody>
          <a:bodyPr/>
          <a:lstStyle/>
          <a:p>
            <a:pPr marL="38100">
              <a:lnSpc>
                <a:spcPts val="1240"/>
              </a:lnSpc>
            </a:pPr>
            <a:fld id="{81D60167-4931-47E6-BA6A-407CBD079E47}" type="slidenum">
              <a:rPr lang="en-US" spc="-25" smtClean="0"/>
              <a:t>12</a:t>
            </a:fld>
            <a:endParaRPr lang="en-US" spc="-25" dirty="0"/>
          </a:p>
        </p:txBody>
      </p:sp>
      <p:pic>
        <p:nvPicPr>
          <p:cNvPr id="6" name="Picture 5">
            <a:extLst>
              <a:ext uri="{FF2B5EF4-FFF2-40B4-BE49-F238E27FC236}">
                <a16:creationId xmlns:a16="http://schemas.microsoft.com/office/drawing/2014/main" id="{D90808D7-3AB7-4136-39A2-18566A311726}"/>
              </a:ext>
            </a:extLst>
          </p:cNvPr>
          <p:cNvPicPr>
            <a:picLocks noChangeAspect="1"/>
          </p:cNvPicPr>
          <p:nvPr/>
        </p:nvPicPr>
        <p:blipFill>
          <a:blip r:embed="rId2"/>
          <a:srcRect l="13770" t="18661" r="18105" b="12222"/>
          <a:stretch/>
        </p:blipFill>
        <p:spPr>
          <a:xfrm>
            <a:off x="457200" y="1143000"/>
            <a:ext cx="11430000" cy="5105400"/>
          </a:xfrm>
          <a:prstGeom prst="rect">
            <a:avLst/>
          </a:prstGeom>
        </p:spPr>
      </p:pic>
      <p:sp>
        <p:nvSpPr>
          <p:cNvPr id="2" name="Title 1">
            <a:extLst>
              <a:ext uri="{FF2B5EF4-FFF2-40B4-BE49-F238E27FC236}">
                <a16:creationId xmlns:a16="http://schemas.microsoft.com/office/drawing/2014/main" id="{35125778-D9CB-EBBE-AAAF-122DDA96A7FD}"/>
              </a:ext>
            </a:extLst>
          </p:cNvPr>
          <p:cNvSpPr>
            <a:spLocks noGrp="1"/>
          </p:cNvSpPr>
          <p:nvPr>
            <p:ph type="title"/>
          </p:nvPr>
        </p:nvSpPr>
        <p:spPr>
          <a:xfrm>
            <a:off x="1219200" y="457200"/>
            <a:ext cx="9446488" cy="469359"/>
          </a:xfrm>
        </p:spPr>
        <p:txBody>
          <a:bodyPr/>
          <a:lstStyle/>
          <a:p>
            <a:pPr algn="ctr"/>
            <a:r>
              <a:rPr lang="en-US" dirty="0"/>
              <a:t>Dashboard [</a:t>
            </a:r>
            <a:r>
              <a:rPr lang="en-US" sz="1600" dirty="0"/>
              <a:t> </a:t>
            </a:r>
            <a:r>
              <a:rPr lang="en-US" dirty="0"/>
              <a:t>Power Bi</a:t>
            </a:r>
            <a:r>
              <a:rPr lang="en-US" sz="1600" dirty="0"/>
              <a:t> </a:t>
            </a:r>
            <a:r>
              <a:rPr lang="en-US" dirty="0"/>
              <a:t>]</a:t>
            </a:r>
          </a:p>
        </p:txBody>
      </p:sp>
    </p:spTree>
    <p:extLst>
      <p:ext uri="{BB962C8B-B14F-4D97-AF65-F5344CB8AC3E}">
        <p14:creationId xmlns:p14="http://schemas.microsoft.com/office/powerpoint/2010/main" val="132598239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30ACB681-B20F-6ED8-3400-C1344614859B}"/>
              </a:ext>
            </a:extLst>
          </p:cNvPr>
          <p:cNvSpPr>
            <a:spLocks noGrp="1"/>
          </p:cNvSpPr>
          <p:nvPr>
            <p:ph type="sldNum" sz="quarter" idx="7"/>
          </p:nvPr>
        </p:nvSpPr>
        <p:spPr/>
        <p:txBody>
          <a:bodyPr/>
          <a:lstStyle/>
          <a:p>
            <a:pPr marL="38100">
              <a:lnSpc>
                <a:spcPts val="1240"/>
              </a:lnSpc>
            </a:pPr>
            <a:fld id="{81D60167-4931-47E6-BA6A-407CBD079E47}" type="slidenum">
              <a:rPr lang="en-US" spc="-25" smtClean="0"/>
              <a:t>13</a:t>
            </a:fld>
            <a:endParaRPr lang="en-US" spc="-25" dirty="0"/>
          </a:p>
        </p:txBody>
      </p:sp>
      <p:sp>
        <p:nvSpPr>
          <p:cNvPr id="2" name="Title 1">
            <a:extLst>
              <a:ext uri="{FF2B5EF4-FFF2-40B4-BE49-F238E27FC236}">
                <a16:creationId xmlns:a16="http://schemas.microsoft.com/office/drawing/2014/main" id="{35125778-D9CB-EBBE-AAAF-122DDA96A7FD}"/>
              </a:ext>
            </a:extLst>
          </p:cNvPr>
          <p:cNvSpPr>
            <a:spLocks noGrp="1"/>
          </p:cNvSpPr>
          <p:nvPr>
            <p:ph type="title"/>
          </p:nvPr>
        </p:nvSpPr>
        <p:spPr>
          <a:xfrm>
            <a:off x="1219200" y="457200"/>
            <a:ext cx="9446488" cy="469359"/>
          </a:xfrm>
        </p:spPr>
        <p:txBody>
          <a:bodyPr/>
          <a:lstStyle/>
          <a:p>
            <a:pPr algn="ctr"/>
            <a:r>
              <a:rPr lang="en-US" dirty="0"/>
              <a:t>Dashboard [</a:t>
            </a:r>
            <a:r>
              <a:rPr lang="en-US" sz="1600" dirty="0"/>
              <a:t> </a:t>
            </a:r>
            <a:r>
              <a:rPr lang="en-US" dirty="0"/>
              <a:t>Power Bi</a:t>
            </a:r>
            <a:r>
              <a:rPr lang="en-US" sz="1600" dirty="0"/>
              <a:t> </a:t>
            </a:r>
            <a:r>
              <a:rPr lang="en-US" dirty="0"/>
              <a:t>]</a:t>
            </a:r>
          </a:p>
        </p:txBody>
      </p:sp>
      <p:pic>
        <p:nvPicPr>
          <p:cNvPr id="8" name="Picture 7">
            <a:extLst>
              <a:ext uri="{FF2B5EF4-FFF2-40B4-BE49-F238E27FC236}">
                <a16:creationId xmlns:a16="http://schemas.microsoft.com/office/drawing/2014/main" id="{B271FC88-065A-4768-E33A-B05BEAE8A7E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57200" y="1143000"/>
            <a:ext cx="11430000" cy="5105400"/>
          </a:xfrm>
          <a:prstGeom prst="rect">
            <a:avLst/>
          </a:prstGeom>
        </p:spPr>
      </p:pic>
    </p:spTree>
    <p:extLst>
      <p:ext uri="{BB962C8B-B14F-4D97-AF65-F5344CB8AC3E}">
        <p14:creationId xmlns:p14="http://schemas.microsoft.com/office/powerpoint/2010/main" val="326363185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44D7E6-0F3F-2A60-1BCA-48E3632B0EEA}"/>
              </a:ext>
            </a:extLst>
          </p:cNvPr>
          <p:cNvSpPr>
            <a:spLocks noGrp="1"/>
          </p:cNvSpPr>
          <p:nvPr>
            <p:ph type="title"/>
          </p:nvPr>
        </p:nvSpPr>
        <p:spPr>
          <a:xfrm>
            <a:off x="454863" y="1303731"/>
            <a:ext cx="8989288" cy="469359"/>
          </a:xfrm>
        </p:spPr>
        <p:txBody>
          <a:bodyPr/>
          <a:lstStyle/>
          <a:p>
            <a:pPr algn="l"/>
            <a:r>
              <a:rPr lang="en-US" dirty="0">
                <a:solidFill>
                  <a:schemeClr val="tx1"/>
                </a:solidFill>
              </a:rPr>
              <a:t>Feature Engineering: </a:t>
            </a:r>
            <a:r>
              <a:rPr lang="en-US" dirty="0">
                <a:solidFill>
                  <a:srgbClr val="202214"/>
                </a:solidFill>
                <a:latin typeface="Inter"/>
              </a:rPr>
              <a:t>D</a:t>
            </a:r>
            <a:r>
              <a:rPr lang="en-US" b="0" i="0" dirty="0">
                <a:solidFill>
                  <a:srgbClr val="202214"/>
                </a:solidFill>
                <a:effectLst/>
                <a:latin typeface="Inter"/>
              </a:rPr>
              <a:t>ata Correla</a:t>
            </a:r>
            <a:r>
              <a:rPr lang="en-US" dirty="0">
                <a:solidFill>
                  <a:srgbClr val="202214"/>
                </a:solidFill>
                <a:latin typeface="Inter"/>
              </a:rPr>
              <a:t>tion</a:t>
            </a:r>
            <a:endParaRPr lang="en-US" dirty="0"/>
          </a:p>
        </p:txBody>
      </p:sp>
      <p:sp>
        <p:nvSpPr>
          <p:cNvPr id="4" name="Slide Number Placeholder 3">
            <a:extLst>
              <a:ext uri="{FF2B5EF4-FFF2-40B4-BE49-F238E27FC236}">
                <a16:creationId xmlns:a16="http://schemas.microsoft.com/office/drawing/2014/main" id="{F5E04E52-0B68-5D9A-9AFE-CFB936BB9AE6}"/>
              </a:ext>
            </a:extLst>
          </p:cNvPr>
          <p:cNvSpPr>
            <a:spLocks noGrp="1"/>
          </p:cNvSpPr>
          <p:nvPr>
            <p:ph type="sldNum" sz="quarter" idx="7"/>
          </p:nvPr>
        </p:nvSpPr>
        <p:spPr/>
        <p:txBody>
          <a:bodyPr/>
          <a:lstStyle/>
          <a:p>
            <a:pPr marL="38100">
              <a:lnSpc>
                <a:spcPts val="1240"/>
              </a:lnSpc>
            </a:pPr>
            <a:fld id="{81D60167-4931-47E6-BA6A-407CBD079E47}" type="slidenum">
              <a:rPr lang="en-US" spc="-25" smtClean="0"/>
              <a:t>14</a:t>
            </a:fld>
            <a:endParaRPr lang="en-US" spc="-25" dirty="0"/>
          </a:p>
        </p:txBody>
      </p:sp>
      <p:grpSp>
        <p:nvGrpSpPr>
          <p:cNvPr id="11" name="Group 10">
            <a:extLst>
              <a:ext uri="{FF2B5EF4-FFF2-40B4-BE49-F238E27FC236}">
                <a16:creationId xmlns:a16="http://schemas.microsoft.com/office/drawing/2014/main" id="{43EB76D0-CDAC-DDDB-1BFC-BF76DF0CC36F}"/>
              </a:ext>
            </a:extLst>
          </p:cNvPr>
          <p:cNvGrpSpPr/>
          <p:nvPr/>
        </p:nvGrpSpPr>
        <p:grpSpPr>
          <a:xfrm>
            <a:off x="2362200" y="1773090"/>
            <a:ext cx="6858000" cy="5008710"/>
            <a:chOff x="152401" y="1905000"/>
            <a:chExt cx="6248399" cy="4738014"/>
          </a:xfrm>
        </p:grpSpPr>
        <p:pic>
          <p:nvPicPr>
            <p:cNvPr id="9" name="image5.png">
              <a:extLst>
                <a:ext uri="{FF2B5EF4-FFF2-40B4-BE49-F238E27FC236}">
                  <a16:creationId xmlns:a16="http://schemas.microsoft.com/office/drawing/2014/main" id="{DCCEC006-0A68-7E53-853C-810ED342F130}"/>
                </a:ext>
              </a:extLst>
            </p:cNvPr>
            <p:cNvPicPr/>
            <p:nvPr/>
          </p:nvPicPr>
          <p:blipFill>
            <a:blip r:embed="rId2"/>
            <a:srcRect r="13667"/>
            <a:stretch/>
          </p:blipFill>
          <p:spPr>
            <a:xfrm>
              <a:off x="152401" y="1905000"/>
              <a:ext cx="5791200" cy="4738014"/>
            </a:xfrm>
            <a:prstGeom prst="rect">
              <a:avLst/>
            </a:prstGeom>
            <a:ln/>
          </p:spPr>
        </p:pic>
        <p:pic>
          <p:nvPicPr>
            <p:cNvPr id="10" name="image5.png">
              <a:extLst>
                <a:ext uri="{FF2B5EF4-FFF2-40B4-BE49-F238E27FC236}">
                  <a16:creationId xmlns:a16="http://schemas.microsoft.com/office/drawing/2014/main" id="{1EA0C9BA-50D6-D289-E8DC-90CC1BC0C09B}"/>
                </a:ext>
              </a:extLst>
            </p:cNvPr>
            <p:cNvPicPr/>
            <p:nvPr/>
          </p:nvPicPr>
          <p:blipFill>
            <a:blip r:embed="rId2"/>
            <a:srcRect l="92013"/>
            <a:stretch/>
          </p:blipFill>
          <p:spPr>
            <a:xfrm>
              <a:off x="5865063" y="1905000"/>
              <a:ext cx="535737" cy="4738014"/>
            </a:xfrm>
            <a:prstGeom prst="rect">
              <a:avLst/>
            </a:prstGeom>
            <a:ln/>
          </p:spPr>
        </p:pic>
      </p:grpSp>
    </p:spTree>
    <p:extLst>
      <p:ext uri="{BB962C8B-B14F-4D97-AF65-F5344CB8AC3E}">
        <p14:creationId xmlns:p14="http://schemas.microsoft.com/office/powerpoint/2010/main" val="15571985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82D21A-A3A0-DDB8-41B1-6AFBF61E60B0}"/>
              </a:ext>
            </a:extLst>
          </p:cNvPr>
          <p:cNvSpPr>
            <a:spLocks noGrp="1"/>
          </p:cNvSpPr>
          <p:nvPr>
            <p:ph type="title"/>
          </p:nvPr>
        </p:nvSpPr>
        <p:spPr>
          <a:xfrm>
            <a:off x="454862" y="1303731"/>
            <a:ext cx="10136938" cy="1408078"/>
          </a:xfrm>
        </p:spPr>
        <p:txBody>
          <a:bodyPr/>
          <a:lstStyle/>
          <a:p>
            <a:r>
              <a:rPr lang="en-US" dirty="0">
                <a:solidFill>
                  <a:schemeClr val="tx1"/>
                </a:solidFill>
              </a:rPr>
              <a:t>Feature Engineering Approach (1): Grouping Zero Balance Customers</a:t>
            </a:r>
            <a:br>
              <a:rPr lang="en-US" dirty="0">
                <a:solidFill>
                  <a:schemeClr val="tx1"/>
                </a:solidFill>
              </a:rPr>
            </a:br>
            <a:endParaRPr lang="en-US" dirty="0"/>
          </a:p>
        </p:txBody>
      </p:sp>
      <p:sp>
        <p:nvSpPr>
          <p:cNvPr id="3" name="Text Placeholder 2">
            <a:extLst>
              <a:ext uri="{FF2B5EF4-FFF2-40B4-BE49-F238E27FC236}">
                <a16:creationId xmlns:a16="http://schemas.microsoft.com/office/drawing/2014/main" id="{56438342-25AC-F3F7-4443-3BCB4800EEFF}"/>
              </a:ext>
            </a:extLst>
          </p:cNvPr>
          <p:cNvSpPr>
            <a:spLocks noGrp="1"/>
          </p:cNvSpPr>
          <p:nvPr>
            <p:ph type="body" idx="1"/>
          </p:nvPr>
        </p:nvSpPr>
        <p:spPr>
          <a:xfrm>
            <a:off x="1268983" y="4736068"/>
            <a:ext cx="9863455" cy="369332"/>
          </a:xfrm>
        </p:spPr>
        <p:txBody>
          <a:bodyPr/>
          <a:lstStyle/>
          <a:p>
            <a:r>
              <a:rPr lang="en-US" sz="1200" dirty="0">
                <a:solidFill>
                  <a:schemeClr val="tx1"/>
                </a:solidFill>
              </a:rPr>
              <a:t>This shows a conflict. How a member to Exit and still being an active member (180 member).</a:t>
            </a:r>
          </a:p>
          <a:p>
            <a:r>
              <a:rPr lang="en-US" sz="1200" dirty="0">
                <a:solidFill>
                  <a:schemeClr val="tx1"/>
                </a:solidFill>
              </a:rPr>
              <a:t>So, we will change these members to be inactive</a:t>
            </a:r>
          </a:p>
        </p:txBody>
      </p:sp>
      <p:sp>
        <p:nvSpPr>
          <p:cNvPr id="4" name="Slide Number Placeholder 3">
            <a:extLst>
              <a:ext uri="{FF2B5EF4-FFF2-40B4-BE49-F238E27FC236}">
                <a16:creationId xmlns:a16="http://schemas.microsoft.com/office/drawing/2014/main" id="{02D8EAE4-8B26-6A1D-1224-544F31735807}"/>
              </a:ext>
            </a:extLst>
          </p:cNvPr>
          <p:cNvSpPr>
            <a:spLocks noGrp="1"/>
          </p:cNvSpPr>
          <p:nvPr>
            <p:ph type="sldNum" sz="quarter" idx="7"/>
          </p:nvPr>
        </p:nvSpPr>
        <p:spPr/>
        <p:txBody>
          <a:bodyPr/>
          <a:lstStyle/>
          <a:p>
            <a:pPr marL="38100">
              <a:lnSpc>
                <a:spcPts val="1240"/>
              </a:lnSpc>
            </a:pPr>
            <a:fld id="{81D60167-4931-47E6-BA6A-407CBD079E47}" type="slidenum">
              <a:rPr lang="en-US" spc="-25" smtClean="0"/>
              <a:t>15</a:t>
            </a:fld>
            <a:endParaRPr lang="en-US" spc="-25" dirty="0"/>
          </a:p>
        </p:txBody>
      </p:sp>
      <p:pic>
        <p:nvPicPr>
          <p:cNvPr id="7" name="Picture 6">
            <a:extLst>
              <a:ext uri="{FF2B5EF4-FFF2-40B4-BE49-F238E27FC236}">
                <a16:creationId xmlns:a16="http://schemas.microsoft.com/office/drawing/2014/main" id="{05190444-1ED5-0EA1-C2B0-A2E5FF499986}"/>
              </a:ext>
            </a:extLst>
          </p:cNvPr>
          <p:cNvPicPr>
            <a:picLocks noChangeAspect="1"/>
          </p:cNvPicPr>
          <p:nvPr/>
        </p:nvPicPr>
        <p:blipFill>
          <a:blip r:embed="rId2"/>
          <a:srcRect l="18750" t="23333" r="22500" b="43334"/>
          <a:stretch/>
        </p:blipFill>
        <p:spPr>
          <a:xfrm>
            <a:off x="1268983" y="2286000"/>
            <a:ext cx="7162800" cy="2286000"/>
          </a:xfrm>
          <a:prstGeom prst="rect">
            <a:avLst/>
          </a:prstGeom>
        </p:spPr>
      </p:pic>
      <p:pic>
        <p:nvPicPr>
          <p:cNvPr id="11" name="Picture 10">
            <a:extLst>
              <a:ext uri="{FF2B5EF4-FFF2-40B4-BE49-F238E27FC236}">
                <a16:creationId xmlns:a16="http://schemas.microsoft.com/office/drawing/2014/main" id="{44BD545A-A517-AFF6-9730-34AE864A2AB3}"/>
              </a:ext>
            </a:extLst>
          </p:cNvPr>
          <p:cNvPicPr>
            <a:picLocks noChangeAspect="1"/>
          </p:cNvPicPr>
          <p:nvPr/>
        </p:nvPicPr>
        <p:blipFill>
          <a:blip r:embed="rId3"/>
          <a:srcRect l="19099" t="75555" r="22500" b="8889"/>
          <a:stretch/>
        </p:blipFill>
        <p:spPr>
          <a:xfrm>
            <a:off x="1295400" y="5181600"/>
            <a:ext cx="7162800" cy="1066800"/>
          </a:xfrm>
          <a:prstGeom prst="rect">
            <a:avLst/>
          </a:prstGeom>
        </p:spPr>
      </p:pic>
    </p:spTree>
    <p:extLst>
      <p:ext uri="{BB962C8B-B14F-4D97-AF65-F5344CB8AC3E}">
        <p14:creationId xmlns:p14="http://schemas.microsoft.com/office/powerpoint/2010/main" val="7668770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82D21A-A3A0-DDB8-41B1-6AFBF61E60B0}"/>
              </a:ext>
            </a:extLst>
          </p:cNvPr>
          <p:cNvSpPr>
            <a:spLocks noGrp="1"/>
          </p:cNvSpPr>
          <p:nvPr>
            <p:ph type="title"/>
          </p:nvPr>
        </p:nvSpPr>
        <p:spPr>
          <a:xfrm>
            <a:off x="454862" y="1303731"/>
            <a:ext cx="9755937" cy="482471"/>
          </a:xfrm>
        </p:spPr>
        <p:txBody>
          <a:bodyPr/>
          <a:lstStyle/>
          <a:p>
            <a:r>
              <a:rPr lang="en-US" dirty="0">
                <a:solidFill>
                  <a:schemeClr val="tx1"/>
                </a:solidFill>
              </a:rPr>
              <a:t>Feature Engineering : Active Level Grouping</a:t>
            </a:r>
            <a:br>
              <a:rPr lang="en-US" dirty="0">
                <a:solidFill>
                  <a:schemeClr val="tx1"/>
                </a:solidFill>
              </a:rPr>
            </a:br>
            <a:endParaRPr lang="en-US" dirty="0"/>
          </a:p>
        </p:txBody>
      </p:sp>
      <p:sp>
        <p:nvSpPr>
          <p:cNvPr id="4" name="Slide Number Placeholder 3">
            <a:extLst>
              <a:ext uri="{FF2B5EF4-FFF2-40B4-BE49-F238E27FC236}">
                <a16:creationId xmlns:a16="http://schemas.microsoft.com/office/drawing/2014/main" id="{02D8EAE4-8B26-6A1D-1224-544F31735807}"/>
              </a:ext>
            </a:extLst>
          </p:cNvPr>
          <p:cNvSpPr>
            <a:spLocks noGrp="1"/>
          </p:cNvSpPr>
          <p:nvPr>
            <p:ph type="sldNum" sz="quarter" idx="7"/>
          </p:nvPr>
        </p:nvSpPr>
        <p:spPr/>
        <p:txBody>
          <a:bodyPr/>
          <a:lstStyle/>
          <a:p>
            <a:pPr marL="38100">
              <a:lnSpc>
                <a:spcPts val="1240"/>
              </a:lnSpc>
            </a:pPr>
            <a:fld id="{81D60167-4931-47E6-BA6A-407CBD079E47}" type="slidenum">
              <a:rPr lang="en-US" spc="-25" smtClean="0"/>
              <a:t>16</a:t>
            </a:fld>
            <a:endParaRPr lang="en-US" spc="-25" dirty="0"/>
          </a:p>
        </p:txBody>
      </p:sp>
      <p:pic>
        <p:nvPicPr>
          <p:cNvPr id="9" name="Picture 8">
            <a:extLst>
              <a:ext uri="{FF2B5EF4-FFF2-40B4-BE49-F238E27FC236}">
                <a16:creationId xmlns:a16="http://schemas.microsoft.com/office/drawing/2014/main" id="{0CE196A2-33AC-613E-B71C-910BD26C5F48}"/>
              </a:ext>
            </a:extLst>
          </p:cNvPr>
          <p:cNvPicPr>
            <a:picLocks noChangeAspect="1"/>
          </p:cNvPicPr>
          <p:nvPr/>
        </p:nvPicPr>
        <p:blipFill>
          <a:blip r:embed="rId2"/>
          <a:srcRect l="18750" t="36666" r="22500" b="47778"/>
          <a:stretch/>
        </p:blipFill>
        <p:spPr>
          <a:xfrm>
            <a:off x="1268983" y="2057400"/>
            <a:ext cx="7162800" cy="1066800"/>
          </a:xfrm>
          <a:prstGeom prst="rect">
            <a:avLst/>
          </a:prstGeom>
        </p:spPr>
      </p:pic>
      <p:sp>
        <p:nvSpPr>
          <p:cNvPr id="10" name="Text Placeholder 2">
            <a:extLst>
              <a:ext uri="{FF2B5EF4-FFF2-40B4-BE49-F238E27FC236}">
                <a16:creationId xmlns:a16="http://schemas.microsoft.com/office/drawing/2014/main" id="{6094097A-0A6E-F9D2-1636-146B2CE28F2C}"/>
              </a:ext>
            </a:extLst>
          </p:cNvPr>
          <p:cNvSpPr>
            <a:spLocks noGrp="1"/>
          </p:cNvSpPr>
          <p:nvPr>
            <p:ph type="body" idx="1"/>
          </p:nvPr>
        </p:nvSpPr>
        <p:spPr>
          <a:xfrm>
            <a:off x="1268984" y="3429000"/>
            <a:ext cx="7162800" cy="323165"/>
          </a:xfrm>
        </p:spPr>
        <p:txBody>
          <a:bodyPr/>
          <a:lstStyle/>
          <a:p>
            <a:pPr algn="l" fontAlgn="base"/>
            <a:r>
              <a:rPr lang="en-US" sz="1050" b="0" i="0" dirty="0">
                <a:solidFill>
                  <a:schemeClr val="tx1"/>
                </a:solidFill>
                <a:effectLst/>
                <a:latin typeface="Inter"/>
              </a:rPr>
              <a:t>It seems weird that some customers who exited the bank are still recorded as active members and have credit cards.</a:t>
            </a:r>
          </a:p>
          <a:p>
            <a:pPr algn="l" fontAlgn="base"/>
            <a:r>
              <a:rPr lang="en-US" sz="1050" dirty="0">
                <a:solidFill>
                  <a:schemeClr val="tx1"/>
                </a:solidFill>
                <a:latin typeface="Inter"/>
              </a:rPr>
              <a:t>So we wi</a:t>
            </a:r>
            <a:r>
              <a:rPr lang="en-US" sz="1050" b="0" i="0" dirty="0">
                <a:solidFill>
                  <a:schemeClr val="tx1"/>
                </a:solidFill>
                <a:effectLst/>
                <a:latin typeface="Inter"/>
              </a:rPr>
              <a:t>ll change any exited member to inactive and has no credit card.</a:t>
            </a:r>
          </a:p>
        </p:txBody>
      </p:sp>
      <p:pic>
        <p:nvPicPr>
          <p:cNvPr id="13" name="Picture 12">
            <a:extLst>
              <a:ext uri="{FF2B5EF4-FFF2-40B4-BE49-F238E27FC236}">
                <a16:creationId xmlns:a16="http://schemas.microsoft.com/office/drawing/2014/main" id="{C181AC87-DB59-F421-41E1-12E61EF46A35}"/>
              </a:ext>
            </a:extLst>
          </p:cNvPr>
          <p:cNvPicPr>
            <a:picLocks noChangeAspect="1"/>
          </p:cNvPicPr>
          <p:nvPr/>
        </p:nvPicPr>
        <p:blipFill>
          <a:blip r:embed="rId3">
            <a:extLst>
              <a:ext uri="{BEBA8EAE-BF5A-486C-A8C5-ECC9F3942E4B}">
                <a14:imgProps xmlns:a14="http://schemas.microsoft.com/office/drawing/2010/main">
                  <a14:imgLayer r:embed="rId4">
                    <a14:imgEffect>
                      <a14:colorTemperature colorTemp="11200"/>
                    </a14:imgEffect>
                  </a14:imgLayer>
                </a14:imgProps>
              </a:ext>
            </a:extLst>
          </a:blip>
          <a:srcRect l="25000" t="19010" r="45625" b="4445"/>
          <a:stretch/>
        </p:blipFill>
        <p:spPr>
          <a:xfrm>
            <a:off x="8534400" y="2057400"/>
            <a:ext cx="3352800" cy="4191000"/>
          </a:xfrm>
          <a:prstGeom prst="rect">
            <a:avLst/>
          </a:prstGeom>
        </p:spPr>
      </p:pic>
      <p:pic>
        <p:nvPicPr>
          <p:cNvPr id="15" name="Picture 14">
            <a:extLst>
              <a:ext uri="{FF2B5EF4-FFF2-40B4-BE49-F238E27FC236}">
                <a16:creationId xmlns:a16="http://schemas.microsoft.com/office/drawing/2014/main" id="{15FE41C2-1990-29C9-8954-1A35903CA5F9}"/>
              </a:ext>
            </a:extLst>
          </p:cNvPr>
          <p:cNvPicPr>
            <a:picLocks noChangeAspect="1"/>
          </p:cNvPicPr>
          <p:nvPr/>
        </p:nvPicPr>
        <p:blipFill>
          <a:blip r:embed="rId5"/>
          <a:srcRect l="20625" t="64444" r="24375" b="22222"/>
          <a:stretch/>
        </p:blipFill>
        <p:spPr>
          <a:xfrm>
            <a:off x="1268982" y="4056965"/>
            <a:ext cx="7162799" cy="914400"/>
          </a:xfrm>
          <a:prstGeom prst="rect">
            <a:avLst/>
          </a:prstGeom>
        </p:spPr>
      </p:pic>
    </p:spTree>
    <p:extLst>
      <p:ext uri="{BB962C8B-B14F-4D97-AF65-F5344CB8AC3E}">
        <p14:creationId xmlns:p14="http://schemas.microsoft.com/office/powerpoint/2010/main" val="294510011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82D21A-A3A0-DDB8-41B1-6AFBF61E60B0}"/>
              </a:ext>
            </a:extLst>
          </p:cNvPr>
          <p:cNvSpPr>
            <a:spLocks noGrp="1"/>
          </p:cNvSpPr>
          <p:nvPr>
            <p:ph type="title"/>
          </p:nvPr>
        </p:nvSpPr>
        <p:spPr>
          <a:xfrm>
            <a:off x="454862" y="1303731"/>
            <a:ext cx="9755937" cy="448869"/>
          </a:xfrm>
        </p:spPr>
        <p:txBody>
          <a:bodyPr/>
          <a:lstStyle/>
          <a:p>
            <a:r>
              <a:rPr lang="en-US" dirty="0">
                <a:solidFill>
                  <a:schemeClr val="tx1"/>
                </a:solidFill>
              </a:rPr>
              <a:t>Feature Engineering : Feature Creation</a:t>
            </a:r>
            <a:br>
              <a:rPr lang="en-US" dirty="0">
                <a:solidFill>
                  <a:schemeClr val="tx1"/>
                </a:solidFill>
              </a:rPr>
            </a:br>
            <a:endParaRPr lang="en-US" dirty="0"/>
          </a:p>
        </p:txBody>
      </p:sp>
      <p:sp>
        <p:nvSpPr>
          <p:cNvPr id="4" name="Slide Number Placeholder 3">
            <a:extLst>
              <a:ext uri="{FF2B5EF4-FFF2-40B4-BE49-F238E27FC236}">
                <a16:creationId xmlns:a16="http://schemas.microsoft.com/office/drawing/2014/main" id="{02D8EAE4-8B26-6A1D-1224-544F31735807}"/>
              </a:ext>
            </a:extLst>
          </p:cNvPr>
          <p:cNvSpPr>
            <a:spLocks noGrp="1"/>
          </p:cNvSpPr>
          <p:nvPr>
            <p:ph type="sldNum" sz="quarter" idx="7"/>
          </p:nvPr>
        </p:nvSpPr>
        <p:spPr/>
        <p:txBody>
          <a:bodyPr/>
          <a:lstStyle/>
          <a:p>
            <a:pPr marL="38100">
              <a:lnSpc>
                <a:spcPts val="1240"/>
              </a:lnSpc>
            </a:pPr>
            <a:fld id="{81D60167-4931-47E6-BA6A-407CBD079E47}" type="slidenum">
              <a:rPr lang="en-US" spc="-25" smtClean="0"/>
              <a:t>17</a:t>
            </a:fld>
            <a:endParaRPr lang="en-US" spc="-25" dirty="0"/>
          </a:p>
        </p:txBody>
      </p:sp>
      <p:pic>
        <p:nvPicPr>
          <p:cNvPr id="8" name="Picture 7">
            <a:extLst>
              <a:ext uri="{FF2B5EF4-FFF2-40B4-BE49-F238E27FC236}">
                <a16:creationId xmlns:a16="http://schemas.microsoft.com/office/drawing/2014/main" id="{BEE56A1B-C7DA-3DB1-4E07-DE18DEB75EAA}"/>
              </a:ext>
            </a:extLst>
          </p:cNvPr>
          <p:cNvPicPr>
            <a:picLocks noChangeAspect="1"/>
          </p:cNvPicPr>
          <p:nvPr/>
        </p:nvPicPr>
        <p:blipFill>
          <a:blip r:embed="rId2"/>
          <a:srcRect l="21250" t="26667" r="24375" b="15556"/>
          <a:stretch/>
        </p:blipFill>
        <p:spPr>
          <a:xfrm>
            <a:off x="1268982" y="1905000"/>
            <a:ext cx="7162798" cy="4114800"/>
          </a:xfrm>
          <a:prstGeom prst="rect">
            <a:avLst/>
          </a:prstGeom>
        </p:spPr>
      </p:pic>
    </p:spTree>
    <p:extLst>
      <p:ext uri="{BB962C8B-B14F-4D97-AF65-F5344CB8AC3E}">
        <p14:creationId xmlns:p14="http://schemas.microsoft.com/office/powerpoint/2010/main" val="304777002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C2547F-2413-2622-DFF3-A4BE3B084D31}"/>
              </a:ext>
            </a:extLst>
          </p:cNvPr>
          <p:cNvSpPr>
            <a:spLocks noGrp="1"/>
          </p:cNvSpPr>
          <p:nvPr>
            <p:ph type="title"/>
          </p:nvPr>
        </p:nvSpPr>
        <p:spPr>
          <a:xfrm>
            <a:off x="454863" y="1303731"/>
            <a:ext cx="6326937" cy="1408078"/>
          </a:xfrm>
        </p:spPr>
        <p:txBody>
          <a:bodyPr/>
          <a:lstStyle/>
          <a:p>
            <a:r>
              <a:rPr lang="en-US" dirty="0"/>
              <a:t>Data Preprocessing : Approach (1)</a:t>
            </a:r>
            <a:br>
              <a:rPr lang="en-US" dirty="0"/>
            </a:br>
            <a:endParaRPr lang="en-US" dirty="0"/>
          </a:p>
        </p:txBody>
      </p:sp>
      <p:sp>
        <p:nvSpPr>
          <p:cNvPr id="4" name="Slide Number Placeholder 3">
            <a:extLst>
              <a:ext uri="{FF2B5EF4-FFF2-40B4-BE49-F238E27FC236}">
                <a16:creationId xmlns:a16="http://schemas.microsoft.com/office/drawing/2014/main" id="{0958FE24-6B46-FB6A-4614-A5F7FB7847C3}"/>
              </a:ext>
            </a:extLst>
          </p:cNvPr>
          <p:cNvSpPr>
            <a:spLocks noGrp="1"/>
          </p:cNvSpPr>
          <p:nvPr>
            <p:ph type="sldNum" sz="quarter" idx="7"/>
          </p:nvPr>
        </p:nvSpPr>
        <p:spPr/>
        <p:txBody>
          <a:bodyPr/>
          <a:lstStyle/>
          <a:p>
            <a:pPr marL="38100">
              <a:lnSpc>
                <a:spcPts val="1240"/>
              </a:lnSpc>
            </a:pPr>
            <a:fld id="{81D60167-4931-47E6-BA6A-407CBD079E47}" type="slidenum">
              <a:rPr lang="en-US" spc="-25" smtClean="0"/>
              <a:t>18</a:t>
            </a:fld>
            <a:endParaRPr lang="en-US" spc="-25" dirty="0"/>
          </a:p>
        </p:txBody>
      </p:sp>
      <p:pic>
        <p:nvPicPr>
          <p:cNvPr id="23" name="Picture 22">
            <a:extLst>
              <a:ext uri="{FF2B5EF4-FFF2-40B4-BE49-F238E27FC236}">
                <a16:creationId xmlns:a16="http://schemas.microsoft.com/office/drawing/2014/main" id="{F2044AD5-9667-FD00-4A7D-E9F089E9D74D}"/>
              </a:ext>
            </a:extLst>
          </p:cNvPr>
          <p:cNvPicPr>
            <a:picLocks noChangeAspect="1"/>
          </p:cNvPicPr>
          <p:nvPr/>
        </p:nvPicPr>
        <p:blipFill>
          <a:blip r:embed="rId3"/>
          <a:srcRect l="24375" t="33333" r="24375" b="56667"/>
          <a:stretch/>
        </p:blipFill>
        <p:spPr>
          <a:xfrm>
            <a:off x="1071467" y="2667000"/>
            <a:ext cx="6629399" cy="525069"/>
          </a:xfrm>
          <a:prstGeom prst="rect">
            <a:avLst/>
          </a:prstGeom>
        </p:spPr>
      </p:pic>
      <p:pic>
        <p:nvPicPr>
          <p:cNvPr id="25" name="Picture 24">
            <a:extLst>
              <a:ext uri="{FF2B5EF4-FFF2-40B4-BE49-F238E27FC236}">
                <a16:creationId xmlns:a16="http://schemas.microsoft.com/office/drawing/2014/main" id="{829B8547-2BA3-C551-B15F-F6187624122E}"/>
              </a:ext>
            </a:extLst>
          </p:cNvPr>
          <p:cNvPicPr>
            <a:picLocks noChangeAspect="1"/>
          </p:cNvPicPr>
          <p:nvPr/>
        </p:nvPicPr>
        <p:blipFill>
          <a:blip r:embed="rId3"/>
          <a:srcRect l="24375" t="61111" r="24375" b="28679"/>
          <a:stretch/>
        </p:blipFill>
        <p:spPr>
          <a:xfrm>
            <a:off x="1066800" y="3429000"/>
            <a:ext cx="6629399" cy="525069"/>
          </a:xfrm>
          <a:prstGeom prst="rect">
            <a:avLst/>
          </a:prstGeom>
        </p:spPr>
      </p:pic>
      <p:pic>
        <p:nvPicPr>
          <p:cNvPr id="27" name="Picture 26">
            <a:extLst>
              <a:ext uri="{FF2B5EF4-FFF2-40B4-BE49-F238E27FC236}">
                <a16:creationId xmlns:a16="http://schemas.microsoft.com/office/drawing/2014/main" id="{69B54FF1-039E-4292-39B1-2BEA04B60E59}"/>
              </a:ext>
            </a:extLst>
          </p:cNvPr>
          <p:cNvPicPr>
            <a:picLocks noChangeAspect="1"/>
          </p:cNvPicPr>
          <p:nvPr/>
        </p:nvPicPr>
        <p:blipFill>
          <a:blip r:embed="rId4"/>
          <a:srcRect l="24375" t="67654" r="24375" b="22346"/>
          <a:stretch/>
        </p:blipFill>
        <p:spPr>
          <a:xfrm>
            <a:off x="1066800" y="4199331"/>
            <a:ext cx="6618513" cy="525069"/>
          </a:xfrm>
          <a:prstGeom prst="rect">
            <a:avLst/>
          </a:prstGeom>
        </p:spPr>
      </p:pic>
    </p:spTree>
    <p:extLst>
      <p:ext uri="{BB962C8B-B14F-4D97-AF65-F5344CB8AC3E}">
        <p14:creationId xmlns:p14="http://schemas.microsoft.com/office/powerpoint/2010/main" val="50896165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6FFDF8-CBFE-B04D-0B13-EDF64F4AC9FE}"/>
              </a:ext>
            </a:extLst>
          </p:cNvPr>
          <p:cNvSpPr>
            <a:spLocks noGrp="1"/>
          </p:cNvSpPr>
          <p:nvPr>
            <p:ph type="title"/>
          </p:nvPr>
        </p:nvSpPr>
        <p:spPr>
          <a:xfrm>
            <a:off x="454863" y="1303731"/>
            <a:ext cx="8989288" cy="601269"/>
          </a:xfrm>
        </p:spPr>
        <p:txBody>
          <a:bodyPr/>
          <a:lstStyle/>
          <a:p>
            <a:r>
              <a:rPr lang="en-US" dirty="0"/>
              <a:t>Data Preprocessing : Encoding categorical features</a:t>
            </a:r>
            <a:br>
              <a:rPr lang="en-US" dirty="0"/>
            </a:br>
            <a:endParaRPr lang="en-US" dirty="0"/>
          </a:p>
        </p:txBody>
      </p:sp>
      <p:sp>
        <p:nvSpPr>
          <p:cNvPr id="3" name="Text Placeholder 2">
            <a:extLst>
              <a:ext uri="{FF2B5EF4-FFF2-40B4-BE49-F238E27FC236}">
                <a16:creationId xmlns:a16="http://schemas.microsoft.com/office/drawing/2014/main" id="{746EFCD3-A961-A8A2-278E-91FD7431531D}"/>
              </a:ext>
            </a:extLst>
          </p:cNvPr>
          <p:cNvSpPr>
            <a:spLocks noGrp="1"/>
          </p:cNvSpPr>
          <p:nvPr>
            <p:ph type="body" idx="1"/>
          </p:nvPr>
        </p:nvSpPr>
        <p:spPr>
          <a:xfrm>
            <a:off x="1268983" y="2209800"/>
            <a:ext cx="7417817" cy="785215"/>
          </a:xfrm>
        </p:spPr>
        <p:txBody>
          <a:bodyPr/>
          <a:lstStyle/>
          <a:p>
            <a:pPr>
              <a:lnSpc>
                <a:spcPct val="150000"/>
              </a:lnSpc>
            </a:pPr>
            <a:r>
              <a:rPr lang="en-US" sz="1800" b="0" i="0" dirty="0">
                <a:solidFill>
                  <a:schemeClr val="tx1"/>
                </a:solidFill>
                <a:effectLst/>
                <a:latin typeface="Inter"/>
              </a:rPr>
              <a:t>Since all categorical features are nominal and do not have any inherent order,</a:t>
            </a:r>
          </a:p>
          <a:p>
            <a:pPr>
              <a:lnSpc>
                <a:spcPct val="150000"/>
              </a:lnSpc>
            </a:pPr>
            <a:r>
              <a:rPr lang="en-US" sz="1800" dirty="0">
                <a:solidFill>
                  <a:schemeClr val="tx1"/>
                </a:solidFill>
                <a:latin typeface="Inter"/>
              </a:rPr>
              <a:t>We</a:t>
            </a:r>
            <a:r>
              <a:rPr lang="en-US" sz="1800" b="0" i="0" dirty="0">
                <a:solidFill>
                  <a:schemeClr val="tx1"/>
                </a:solidFill>
                <a:effectLst/>
                <a:latin typeface="Inter"/>
              </a:rPr>
              <a:t> will use One-Hot Encoding to handle them appropriately.</a:t>
            </a:r>
            <a:endParaRPr lang="en-US" sz="1800" dirty="0">
              <a:solidFill>
                <a:schemeClr val="tx1"/>
              </a:solidFill>
            </a:endParaRPr>
          </a:p>
        </p:txBody>
      </p:sp>
      <p:sp>
        <p:nvSpPr>
          <p:cNvPr id="4" name="Slide Number Placeholder 3">
            <a:extLst>
              <a:ext uri="{FF2B5EF4-FFF2-40B4-BE49-F238E27FC236}">
                <a16:creationId xmlns:a16="http://schemas.microsoft.com/office/drawing/2014/main" id="{12BA416F-A797-F940-1B94-849E0D23A5D5}"/>
              </a:ext>
            </a:extLst>
          </p:cNvPr>
          <p:cNvSpPr>
            <a:spLocks noGrp="1"/>
          </p:cNvSpPr>
          <p:nvPr>
            <p:ph type="sldNum" sz="quarter" idx="7"/>
          </p:nvPr>
        </p:nvSpPr>
        <p:spPr/>
        <p:txBody>
          <a:bodyPr/>
          <a:lstStyle/>
          <a:p>
            <a:pPr marL="38100">
              <a:lnSpc>
                <a:spcPts val="1240"/>
              </a:lnSpc>
            </a:pPr>
            <a:fld id="{81D60167-4931-47E6-BA6A-407CBD079E47}" type="slidenum">
              <a:rPr lang="en-US" spc="-25" smtClean="0"/>
              <a:t>19</a:t>
            </a:fld>
            <a:endParaRPr lang="en-US" spc="-25" dirty="0"/>
          </a:p>
        </p:txBody>
      </p:sp>
      <p:pic>
        <p:nvPicPr>
          <p:cNvPr id="10" name="Picture 9">
            <a:extLst>
              <a:ext uri="{FF2B5EF4-FFF2-40B4-BE49-F238E27FC236}">
                <a16:creationId xmlns:a16="http://schemas.microsoft.com/office/drawing/2014/main" id="{6A927F4E-85A7-7B90-60EE-06403B38682D}"/>
              </a:ext>
            </a:extLst>
          </p:cNvPr>
          <p:cNvPicPr>
            <a:picLocks noChangeAspect="1"/>
          </p:cNvPicPr>
          <p:nvPr/>
        </p:nvPicPr>
        <p:blipFill>
          <a:blip r:embed="rId2"/>
          <a:srcRect l="24375" t="46667" r="24375" b="26667"/>
          <a:stretch/>
        </p:blipFill>
        <p:spPr>
          <a:xfrm>
            <a:off x="1268982" y="3238104"/>
            <a:ext cx="6655817" cy="2476896"/>
          </a:xfrm>
          <a:prstGeom prst="rect">
            <a:avLst/>
          </a:prstGeom>
        </p:spPr>
      </p:pic>
    </p:spTree>
    <p:extLst>
      <p:ext uri="{BB962C8B-B14F-4D97-AF65-F5344CB8AC3E}">
        <p14:creationId xmlns:p14="http://schemas.microsoft.com/office/powerpoint/2010/main" val="67704272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6FFDF8-CBFE-B04D-0B13-EDF64F4AC9FE}"/>
              </a:ext>
            </a:extLst>
          </p:cNvPr>
          <p:cNvSpPr>
            <a:spLocks noGrp="1"/>
          </p:cNvSpPr>
          <p:nvPr>
            <p:ph type="title"/>
          </p:nvPr>
        </p:nvSpPr>
        <p:spPr>
          <a:xfrm>
            <a:off x="454863" y="1303731"/>
            <a:ext cx="8989288" cy="525069"/>
          </a:xfrm>
        </p:spPr>
        <p:txBody>
          <a:bodyPr/>
          <a:lstStyle/>
          <a:p>
            <a:r>
              <a:rPr lang="en-US" dirty="0"/>
              <a:t>Data Preprocessing : Splitting Data</a:t>
            </a:r>
            <a:br>
              <a:rPr lang="en-US" dirty="0"/>
            </a:br>
            <a:endParaRPr lang="en-US" dirty="0"/>
          </a:p>
        </p:txBody>
      </p:sp>
      <p:sp>
        <p:nvSpPr>
          <p:cNvPr id="4" name="Slide Number Placeholder 3">
            <a:extLst>
              <a:ext uri="{FF2B5EF4-FFF2-40B4-BE49-F238E27FC236}">
                <a16:creationId xmlns:a16="http://schemas.microsoft.com/office/drawing/2014/main" id="{12BA416F-A797-F940-1B94-849E0D23A5D5}"/>
              </a:ext>
            </a:extLst>
          </p:cNvPr>
          <p:cNvSpPr>
            <a:spLocks noGrp="1"/>
          </p:cNvSpPr>
          <p:nvPr>
            <p:ph type="sldNum" sz="quarter" idx="7"/>
          </p:nvPr>
        </p:nvSpPr>
        <p:spPr/>
        <p:txBody>
          <a:bodyPr/>
          <a:lstStyle/>
          <a:p>
            <a:pPr marL="38100">
              <a:lnSpc>
                <a:spcPts val="1240"/>
              </a:lnSpc>
            </a:pPr>
            <a:fld id="{81D60167-4931-47E6-BA6A-407CBD079E47}" type="slidenum">
              <a:rPr lang="en-US" spc="-25" smtClean="0"/>
              <a:t>20</a:t>
            </a:fld>
            <a:endParaRPr lang="en-US" spc="-25" dirty="0"/>
          </a:p>
        </p:txBody>
      </p:sp>
      <p:pic>
        <p:nvPicPr>
          <p:cNvPr id="13" name="Picture 12">
            <a:extLst>
              <a:ext uri="{FF2B5EF4-FFF2-40B4-BE49-F238E27FC236}">
                <a16:creationId xmlns:a16="http://schemas.microsoft.com/office/drawing/2014/main" id="{8E0D51E8-1CC9-BC70-D57A-FA6C6BCF2887}"/>
              </a:ext>
            </a:extLst>
          </p:cNvPr>
          <p:cNvPicPr>
            <a:picLocks noChangeAspect="1"/>
          </p:cNvPicPr>
          <p:nvPr/>
        </p:nvPicPr>
        <p:blipFill>
          <a:blip r:embed="rId2"/>
          <a:srcRect l="22500" t="30000" r="22538" b="42222"/>
          <a:stretch/>
        </p:blipFill>
        <p:spPr>
          <a:xfrm>
            <a:off x="1219200" y="2438400"/>
            <a:ext cx="6700951" cy="1981200"/>
          </a:xfrm>
          <a:prstGeom prst="rect">
            <a:avLst/>
          </a:prstGeom>
        </p:spPr>
      </p:pic>
    </p:spTree>
    <p:extLst>
      <p:ext uri="{BB962C8B-B14F-4D97-AF65-F5344CB8AC3E}">
        <p14:creationId xmlns:p14="http://schemas.microsoft.com/office/powerpoint/2010/main" val="204782835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6FFDF8-CBFE-B04D-0B13-EDF64F4AC9FE}"/>
              </a:ext>
            </a:extLst>
          </p:cNvPr>
          <p:cNvSpPr>
            <a:spLocks noGrp="1"/>
          </p:cNvSpPr>
          <p:nvPr>
            <p:ph type="title"/>
          </p:nvPr>
        </p:nvSpPr>
        <p:spPr>
          <a:xfrm>
            <a:off x="454863" y="1303731"/>
            <a:ext cx="8989288" cy="525069"/>
          </a:xfrm>
        </p:spPr>
        <p:txBody>
          <a:bodyPr/>
          <a:lstStyle/>
          <a:p>
            <a:r>
              <a:rPr lang="en-US" dirty="0"/>
              <a:t>Data Preprocessing : Normalization</a:t>
            </a:r>
            <a:br>
              <a:rPr lang="en-US" dirty="0"/>
            </a:br>
            <a:endParaRPr lang="en-US" dirty="0"/>
          </a:p>
        </p:txBody>
      </p:sp>
      <p:sp>
        <p:nvSpPr>
          <p:cNvPr id="4" name="Slide Number Placeholder 3">
            <a:extLst>
              <a:ext uri="{FF2B5EF4-FFF2-40B4-BE49-F238E27FC236}">
                <a16:creationId xmlns:a16="http://schemas.microsoft.com/office/drawing/2014/main" id="{12BA416F-A797-F940-1B94-849E0D23A5D5}"/>
              </a:ext>
            </a:extLst>
          </p:cNvPr>
          <p:cNvSpPr>
            <a:spLocks noGrp="1"/>
          </p:cNvSpPr>
          <p:nvPr>
            <p:ph type="sldNum" sz="quarter" idx="7"/>
          </p:nvPr>
        </p:nvSpPr>
        <p:spPr/>
        <p:txBody>
          <a:bodyPr/>
          <a:lstStyle/>
          <a:p>
            <a:pPr marL="38100">
              <a:lnSpc>
                <a:spcPts val="1240"/>
              </a:lnSpc>
            </a:pPr>
            <a:fld id="{81D60167-4931-47E6-BA6A-407CBD079E47}" type="slidenum">
              <a:rPr lang="en-US" spc="-25" smtClean="0"/>
              <a:t>21</a:t>
            </a:fld>
            <a:endParaRPr lang="en-US" spc="-25" dirty="0"/>
          </a:p>
        </p:txBody>
      </p:sp>
      <p:pic>
        <p:nvPicPr>
          <p:cNvPr id="12" name="Picture 11">
            <a:extLst>
              <a:ext uri="{FF2B5EF4-FFF2-40B4-BE49-F238E27FC236}">
                <a16:creationId xmlns:a16="http://schemas.microsoft.com/office/drawing/2014/main" id="{205875FF-C995-85B0-4671-D971E378BCCC}"/>
              </a:ext>
            </a:extLst>
          </p:cNvPr>
          <p:cNvPicPr>
            <a:picLocks noChangeAspect="1"/>
          </p:cNvPicPr>
          <p:nvPr/>
        </p:nvPicPr>
        <p:blipFill>
          <a:blip r:embed="rId2"/>
          <a:srcRect l="22538" t="66667" r="22538" b="15926"/>
          <a:stretch/>
        </p:blipFill>
        <p:spPr>
          <a:xfrm>
            <a:off x="1265873" y="2286000"/>
            <a:ext cx="6696303" cy="1981200"/>
          </a:xfrm>
          <a:prstGeom prst="rect">
            <a:avLst/>
          </a:prstGeom>
        </p:spPr>
      </p:pic>
    </p:spTree>
    <p:extLst>
      <p:ext uri="{BB962C8B-B14F-4D97-AF65-F5344CB8AC3E}">
        <p14:creationId xmlns:p14="http://schemas.microsoft.com/office/powerpoint/2010/main" val="420015996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95018E-6F37-AD90-B885-272ED64504B4}"/>
              </a:ext>
            </a:extLst>
          </p:cNvPr>
          <p:cNvSpPr>
            <a:spLocks noGrp="1"/>
          </p:cNvSpPr>
          <p:nvPr>
            <p:ph type="title"/>
          </p:nvPr>
        </p:nvSpPr>
        <p:spPr>
          <a:xfrm>
            <a:off x="454863" y="1303731"/>
            <a:ext cx="8989288" cy="938719"/>
          </a:xfrm>
        </p:spPr>
        <p:txBody>
          <a:bodyPr/>
          <a:lstStyle/>
          <a:p>
            <a:r>
              <a:rPr lang="en-US" dirty="0"/>
              <a:t>Classification Modelling : Approach (1)</a:t>
            </a:r>
            <a:br>
              <a:rPr lang="en-US" dirty="0"/>
            </a:br>
            <a:endParaRPr lang="en-US" dirty="0"/>
          </a:p>
        </p:txBody>
      </p:sp>
      <p:sp>
        <p:nvSpPr>
          <p:cNvPr id="3" name="Text Placeholder 2">
            <a:extLst>
              <a:ext uri="{FF2B5EF4-FFF2-40B4-BE49-F238E27FC236}">
                <a16:creationId xmlns:a16="http://schemas.microsoft.com/office/drawing/2014/main" id="{6B9A6DEF-E754-1312-E412-0C634B4A92E6}"/>
              </a:ext>
            </a:extLst>
          </p:cNvPr>
          <p:cNvSpPr>
            <a:spLocks noGrp="1"/>
          </p:cNvSpPr>
          <p:nvPr>
            <p:ph type="body" idx="1"/>
          </p:nvPr>
        </p:nvSpPr>
        <p:spPr>
          <a:xfrm>
            <a:off x="1268983" y="4561205"/>
            <a:ext cx="9246617" cy="1723549"/>
          </a:xfrm>
        </p:spPr>
        <p:txBody>
          <a:bodyPr/>
          <a:lstStyle/>
          <a:p>
            <a:pPr algn="just"/>
            <a:r>
              <a:rPr lang="en-US" sz="1400" dirty="0">
                <a:solidFill>
                  <a:srgbClr val="2BAE82"/>
                </a:solidFill>
              </a:rPr>
              <a:t>Models Conclusion:</a:t>
            </a:r>
          </a:p>
          <a:p>
            <a:pPr algn="just"/>
            <a:r>
              <a:rPr lang="en-US" sz="1400" dirty="0">
                <a:solidFill>
                  <a:schemeClr val="tx1"/>
                </a:solidFill>
              </a:rPr>
              <a:t>The results show that K-Nearest Neighbors (KNN) achieved perfect scores on the training set but had lower generalization performance on the test set (F1: 0.820), indicating potential overfitting. Random Forest and </a:t>
            </a:r>
            <a:r>
              <a:rPr lang="en-US" sz="1400" dirty="0" err="1">
                <a:solidFill>
                  <a:schemeClr val="tx1"/>
                </a:solidFill>
              </a:rPr>
              <a:t>XGBoost</a:t>
            </a:r>
            <a:r>
              <a:rPr lang="en-US" sz="1400" dirty="0">
                <a:solidFill>
                  <a:schemeClr val="tx1"/>
                </a:solidFill>
              </a:rPr>
              <a:t> performed well overall, with Random Forest having the highest training F1 (0.915) but slightly lower test F1 (0.848), while </a:t>
            </a:r>
            <a:r>
              <a:rPr lang="en-US" sz="1400" dirty="0" err="1">
                <a:solidFill>
                  <a:schemeClr val="tx1"/>
                </a:solidFill>
              </a:rPr>
              <a:t>XGBoost</a:t>
            </a:r>
            <a:r>
              <a:rPr lang="en-US" sz="1400" dirty="0">
                <a:solidFill>
                  <a:schemeClr val="tx1"/>
                </a:solidFill>
              </a:rPr>
              <a:t> showed balanced performance (Test F1: 0.856). Logistic Regression, Decision Tree, and Support Vector Machine (SVM) also performed well, with SVM and Decision Tree showing consistent results across both training and test sets, making them solid options. Overall, </a:t>
            </a:r>
            <a:r>
              <a:rPr lang="en-US" sz="1400" b="1" dirty="0">
                <a:solidFill>
                  <a:schemeClr val="tx1"/>
                </a:solidFill>
              </a:rPr>
              <a:t>we would prefer Decision Tree as it gives almost the same results on test data and takes less time compared to Random Forest and XGB.</a:t>
            </a:r>
          </a:p>
        </p:txBody>
      </p:sp>
      <p:sp>
        <p:nvSpPr>
          <p:cNvPr id="4" name="Slide Number Placeholder 3">
            <a:extLst>
              <a:ext uri="{FF2B5EF4-FFF2-40B4-BE49-F238E27FC236}">
                <a16:creationId xmlns:a16="http://schemas.microsoft.com/office/drawing/2014/main" id="{16E30206-686C-3939-9CFE-03BD5044F39E}"/>
              </a:ext>
            </a:extLst>
          </p:cNvPr>
          <p:cNvSpPr>
            <a:spLocks noGrp="1"/>
          </p:cNvSpPr>
          <p:nvPr>
            <p:ph type="sldNum" sz="quarter" idx="7"/>
          </p:nvPr>
        </p:nvSpPr>
        <p:spPr/>
        <p:txBody>
          <a:bodyPr/>
          <a:lstStyle/>
          <a:p>
            <a:pPr marL="38100">
              <a:lnSpc>
                <a:spcPts val="1240"/>
              </a:lnSpc>
            </a:pPr>
            <a:fld id="{81D60167-4931-47E6-BA6A-407CBD079E47}" type="slidenum">
              <a:rPr lang="en-US" spc="-25" smtClean="0"/>
              <a:t>22</a:t>
            </a:fld>
            <a:endParaRPr lang="en-US" spc="-25" dirty="0"/>
          </a:p>
        </p:txBody>
      </p:sp>
      <p:pic>
        <p:nvPicPr>
          <p:cNvPr id="6" name="Picture 5">
            <a:extLst>
              <a:ext uri="{FF2B5EF4-FFF2-40B4-BE49-F238E27FC236}">
                <a16:creationId xmlns:a16="http://schemas.microsoft.com/office/drawing/2014/main" id="{6E4E75B1-C88B-AFE0-2D41-58E502F91216}"/>
              </a:ext>
            </a:extLst>
          </p:cNvPr>
          <p:cNvPicPr>
            <a:picLocks noChangeAspect="1"/>
          </p:cNvPicPr>
          <p:nvPr/>
        </p:nvPicPr>
        <p:blipFill>
          <a:blip r:embed="rId2"/>
          <a:srcRect l="22616" t="35713" r="23750" b="34444"/>
          <a:stretch/>
        </p:blipFill>
        <p:spPr>
          <a:xfrm>
            <a:off x="1143000" y="1991995"/>
            <a:ext cx="7772400" cy="2416810"/>
          </a:xfrm>
          <a:prstGeom prst="rect">
            <a:avLst/>
          </a:prstGeom>
        </p:spPr>
      </p:pic>
    </p:spTree>
    <p:extLst>
      <p:ext uri="{BB962C8B-B14F-4D97-AF65-F5344CB8AC3E}">
        <p14:creationId xmlns:p14="http://schemas.microsoft.com/office/powerpoint/2010/main" val="9289167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6FFDF8-CBFE-B04D-0B13-EDF64F4AC9FE}"/>
              </a:ext>
            </a:extLst>
          </p:cNvPr>
          <p:cNvSpPr>
            <a:spLocks noGrp="1"/>
          </p:cNvSpPr>
          <p:nvPr>
            <p:ph type="title"/>
          </p:nvPr>
        </p:nvSpPr>
        <p:spPr>
          <a:xfrm>
            <a:off x="454863" y="1303731"/>
            <a:ext cx="8989288" cy="938719"/>
          </a:xfrm>
        </p:spPr>
        <p:txBody>
          <a:bodyPr/>
          <a:lstStyle/>
          <a:p>
            <a:r>
              <a:rPr lang="en-US" dirty="0"/>
              <a:t>Data Preprocessing : Approach (2)</a:t>
            </a:r>
            <a:br>
              <a:rPr lang="en-US" dirty="0"/>
            </a:br>
            <a:endParaRPr lang="en-US" dirty="0"/>
          </a:p>
        </p:txBody>
      </p:sp>
      <p:sp>
        <p:nvSpPr>
          <p:cNvPr id="4" name="Slide Number Placeholder 3">
            <a:extLst>
              <a:ext uri="{FF2B5EF4-FFF2-40B4-BE49-F238E27FC236}">
                <a16:creationId xmlns:a16="http://schemas.microsoft.com/office/drawing/2014/main" id="{12BA416F-A797-F940-1B94-849E0D23A5D5}"/>
              </a:ext>
            </a:extLst>
          </p:cNvPr>
          <p:cNvSpPr>
            <a:spLocks noGrp="1"/>
          </p:cNvSpPr>
          <p:nvPr>
            <p:ph type="sldNum" sz="quarter" idx="7"/>
          </p:nvPr>
        </p:nvSpPr>
        <p:spPr/>
        <p:txBody>
          <a:bodyPr/>
          <a:lstStyle/>
          <a:p>
            <a:pPr marL="38100">
              <a:lnSpc>
                <a:spcPts val="1240"/>
              </a:lnSpc>
            </a:pPr>
            <a:fld id="{81D60167-4931-47E6-BA6A-407CBD079E47}" type="slidenum">
              <a:rPr lang="en-US" spc="-25" smtClean="0"/>
              <a:t>23</a:t>
            </a:fld>
            <a:endParaRPr lang="en-US" spc="-25" dirty="0"/>
          </a:p>
        </p:txBody>
      </p:sp>
      <p:sp>
        <p:nvSpPr>
          <p:cNvPr id="7" name="TextBox 6">
            <a:extLst>
              <a:ext uri="{FF2B5EF4-FFF2-40B4-BE49-F238E27FC236}">
                <a16:creationId xmlns:a16="http://schemas.microsoft.com/office/drawing/2014/main" id="{75D9697E-76B0-48AD-FD84-D92A206EAEEE}"/>
              </a:ext>
            </a:extLst>
          </p:cNvPr>
          <p:cNvSpPr txBox="1"/>
          <p:nvPr/>
        </p:nvSpPr>
        <p:spPr>
          <a:xfrm>
            <a:off x="442573" y="2133600"/>
            <a:ext cx="9146337" cy="4104778"/>
          </a:xfrm>
          <a:prstGeom prst="rect">
            <a:avLst/>
          </a:prstGeom>
          <a:noFill/>
        </p:spPr>
        <p:txBody>
          <a:bodyPr wrap="square" rtlCol="0">
            <a:spAutoFit/>
          </a:bodyPr>
          <a:lstStyle/>
          <a:p>
            <a:pPr marL="457200" rtl="0" fontAlgn="base">
              <a:lnSpc>
                <a:spcPct val="150000"/>
              </a:lnSpc>
              <a:spcBef>
                <a:spcPts val="0"/>
              </a:spcBef>
              <a:spcAft>
                <a:spcPts val="0"/>
              </a:spcAft>
              <a:buFont typeface="+mj-lt"/>
              <a:buAutoNum type="arabicPeriod"/>
            </a:pPr>
            <a:r>
              <a:rPr lang="en-US" sz="1600" dirty="0">
                <a:solidFill>
                  <a:schemeClr val="tx1"/>
                </a:solidFill>
                <a:latin typeface="Tahoma"/>
                <a:ea typeface="+mn-ea"/>
                <a:cs typeface="Tahoma"/>
              </a:rPr>
              <a:t>Drop unwanted columns ['id','</a:t>
            </a:r>
            <a:r>
              <a:rPr lang="en-US" sz="1600" dirty="0" err="1">
                <a:solidFill>
                  <a:schemeClr val="tx1"/>
                </a:solidFill>
                <a:latin typeface="Tahoma"/>
                <a:ea typeface="+mn-ea"/>
                <a:cs typeface="Tahoma"/>
              </a:rPr>
              <a:t>CustomerId</a:t>
            </a:r>
            <a:r>
              <a:rPr lang="en-US" sz="1600" dirty="0">
                <a:solidFill>
                  <a:schemeClr val="tx1"/>
                </a:solidFill>
                <a:latin typeface="Tahoma"/>
                <a:ea typeface="+mn-ea"/>
                <a:cs typeface="Tahoma"/>
              </a:rPr>
              <a:t>','Surname']</a:t>
            </a:r>
          </a:p>
          <a:p>
            <a:pPr marL="457200" rtl="0" fontAlgn="base">
              <a:lnSpc>
                <a:spcPct val="150000"/>
              </a:lnSpc>
              <a:spcBef>
                <a:spcPts val="0"/>
              </a:spcBef>
              <a:spcAft>
                <a:spcPts val="0"/>
              </a:spcAft>
              <a:buFont typeface="+mj-lt"/>
              <a:buAutoNum type="arabicPeriod"/>
            </a:pPr>
            <a:r>
              <a:rPr lang="en-US" sz="1600" dirty="0">
                <a:solidFill>
                  <a:schemeClr val="tx1"/>
                </a:solidFill>
                <a:latin typeface="Tahoma"/>
                <a:ea typeface="+mn-ea"/>
                <a:cs typeface="Tahoma"/>
              </a:rPr>
              <a:t>Drop Duplicates ( 2 rows found)</a:t>
            </a:r>
          </a:p>
          <a:p>
            <a:pPr marL="457200" rtl="0" fontAlgn="base">
              <a:lnSpc>
                <a:spcPct val="150000"/>
              </a:lnSpc>
              <a:spcBef>
                <a:spcPts val="0"/>
              </a:spcBef>
              <a:spcAft>
                <a:spcPts val="0"/>
              </a:spcAft>
              <a:buFont typeface="+mj-lt"/>
              <a:buAutoNum type="arabicPeriod"/>
            </a:pPr>
            <a:r>
              <a:rPr lang="en-US" sz="1600" dirty="0">
                <a:solidFill>
                  <a:schemeClr val="tx1"/>
                </a:solidFill>
                <a:latin typeface="Tahoma"/>
                <a:ea typeface="+mn-ea"/>
                <a:cs typeface="Tahoma"/>
              </a:rPr>
              <a:t>Handle Missing values : Filling the missing values by using </a:t>
            </a:r>
            <a:r>
              <a:rPr lang="en-US" sz="1600" b="1" dirty="0">
                <a:solidFill>
                  <a:schemeClr val="tx1"/>
                </a:solidFill>
                <a:latin typeface="Tahoma"/>
                <a:ea typeface="+mn-ea"/>
                <a:cs typeface="Tahoma"/>
              </a:rPr>
              <a:t>Mode, Median</a:t>
            </a:r>
          </a:p>
          <a:p>
            <a:pPr marL="914400" rtl="0" fontAlgn="base">
              <a:lnSpc>
                <a:spcPct val="150000"/>
              </a:lnSpc>
              <a:spcBef>
                <a:spcPts val="0"/>
              </a:spcBef>
              <a:spcAft>
                <a:spcPts val="0"/>
              </a:spcAft>
              <a:buFont typeface="Arial" panose="020B0604020202020204" pitchFamily="34" charset="0"/>
              <a:buChar char="•"/>
            </a:pPr>
            <a:r>
              <a:rPr lang="en-US" sz="1600" dirty="0">
                <a:solidFill>
                  <a:schemeClr val="tx1"/>
                </a:solidFill>
                <a:latin typeface="Tahoma"/>
                <a:ea typeface="+mn-ea"/>
                <a:cs typeface="Tahoma"/>
              </a:rPr>
              <a:t>found 1 missing value in the following columns [‘Age’ , ‘Geography’, ‘</a:t>
            </a:r>
            <a:r>
              <a:rPr lang="en-US" sz="1600" dirty="0" err="1">
                <a:solidFill>
                  <a:schemeClr val="tx1"/>
                </a:solidFill>
                <a:latin typeface="Tahoma"/>
                <a:ea typeface="+mn-ea"/>
                <a:cs typeface="Tahoma"/>
              </a:rPr>
              <a:t>HasCrCard</a:t>
            </a:r>
            <a:r>
              <a:rPr lang="en-US" sz="1600" dirty="0">
                <a:solidFill>
                  <a:schemeClr val="tx1"/>
                </a:solidFill>
                <a:latin typeface="Tahoma"/>
                <a:ea typeface="+mn-ea"/>
                <a:cs typeface="Tahoma"/>
              </a:rPr>
              <a:t>’, ‘</a:t>
            </a:r>
            <a:r>
              <a:rPr lang="en-US" sz="1600" dirty="0" err="1">
                <a:solidFill>
                  <a:schemeClr val="tx1"/>
                </a:solidFill>
                <a:latin typeface="Tahoma"/>
                <a:ea typeface="+mn-ea"/>
                <a:cs typeface="Tahoma"/>
              </a:rPr>
              <a:t>IsActiveMember</a:t>
            </a:r>
            <a:r>
              <a:rPr lang="en-US" sz="1600" dirty="0">
                <a:solidFill>
                  <a:schemeClr val="tx1"/>
                </a:solidFill>
                <a:latin typeface="Tahoma"/>
                <a:ea typeface="+mn-ea"/>
                <a:cs typeface="Tahoma"/>
              </a:rPr>
              <a:t>’]</a:t>
            </a:r>
          </a:p>
          <a:p>
            <a:pPr marL="457200" rtl="0" fontAlgn="base">
              <a:lnSpc>
                <a:spcPct val="150000"/>
              </a:lnSpc>
              <a:spcBef>
                <a:spcPts val="0"/>
              </a:spcBef>
              <a:spcAft>
                <a:spcPts val="0"/>
              </a:spcAft>
              <a:buFont typeface="+mj-lt"/>
              <a:buAutoNum type="arabicPeriod" startAt="4"/>
            </a:pPr>
            <a:r>
              <a:rPr lang="en-US" sz="1600" dirty="0">
                <a:solidFill>
                  <a:schemeClr val="tx1"/>
                </a:solidFill>
                <a:latin typeface="Tahoma"/>
                <a:ea typeface="+mn-ea"/>
                <a:cs typeface="Tahoma"/>
              </a:rPr>
              <a:t>Converting Data Type of columns : Age : float64 → int64</a:t>
            </a:r>
          </a:p>
          <a:p>
            <a:pPr marL="457200" rtl="0" fontAlgn="base">
              <a:lnSpc>
                <a:spcPct val="150000"/>
              </a:lnSpc>
              <a:spcBef>
                <a:spcPts val="0"/>
              </a:spcBef>
              <a:spcAft>
                <a:spcPts val="0"/>
              </a:spcAft>
              <a:buFont typeface="+mj-lt"/>
              <a:buAutoNum type="arabicPeriod" startAt="4"/>
            </a:pPr>
            <a:r>
              <a:rPr lang="en-US" sz="1600" dirty="0">
                <a:solidFill>
                  <a:schemeClr val="tx1"/>
                </a:solidFill>
                <a:latin typeface="Tahoma"/>
                <a:ea typeface="+mn-ea"/>
                <a:cs typeface="Tahoma"/>
              </a:rPr>
              <a:t>Encoding Categorical features [‘</a:t>
            </a:r>
            <a:r>
              <a:rPr lang="en-US" sz="1600" dirty="0" err="1">
                <a:solidFill>
                  <a:schemeClr val="tx1"/>
                </a:solidFill>
                <a:latin typeface="Tahoma"/>
                <a:ea typeface="+mn-ea"/>
                <a:cs typeface="Tahoma"/>
              </a:rPr>
              <a:t>Gender’,’Geography</a:t>
            </a:r>
            <a:r>
              <a:rPr lang="en-US" sz="1600" dirty="0">
                <a:solidFill>
                  <a:schemeClr val="tx1"/>
                </a:solidFill>
                <a:latin typeface="Tahoma"/>
                <a:ea typeface="+mn-ea"/>
                <a:cs typeface="Tahoma"/>
              </a:rPr>
              <a:t>’] : One Hot Encoding</a:t>
            </a:r>
          </a:p>
          <a:p>
            <a:pPr marL="457200" rtl="0" fontAlgn="base">
              <a:lnSpc>
                <a:spcPct val="150000"/>
              </a:lnSpc>
              <a:spcBef>
                <a:spcPts val="0"/>
              </a:spcBef>
              <a:spcAft>
                <a:spcPts val="0"/>
              </a:spcAft>
              <a:buFont typeface="+mj-lt"/>
              <a:buAutoNum type="arabicPeriod" startAt="4"/>
            </a:pPr>
            <a:r>
              <a:rPr lang="en-US" sz="1600" dirty="0">
                <a:solidFill>
                  <a:schemeClr val="tx1"/>
                </a:solidFill>
                <a:latin typeface="Tahoma"/>
                <a:ea typeface="+mn-ea"/>
                <a:cs typeface="Tahoma"/>
              </a:rPr>
              <a:t>Handle Outliers using Capping method.</a:t>
            </a:r>
          </a:p>
          <a:p>
            <a:pPr marL="457200" rtl="0" fontAlgn="base">
              <a:lnSpc>
                <a:spcPct val="150000"/>
              </a:lnSpc>
              <a:spcBef>
                <a:spcPts val="0"/>
              </a:spcBef>
              <a:spcAft>
                <a:spcPts val="0"/>
              </a:spcAft>
              <a:buFont typeface="+mj-lt"/>
              <a:buAutoNum type="arabicPeriod" startAt="4"/>
            </a:pPr>
            <a:r>
              <a:rPr lang="en-US" sz="1600" dirty="0">
                <a:solidFill>
                  <a:schemeClr val="tx1"/>
                </a:solidFill>
                <a:latin typeface="Tahoma"/>
                <a:ea typeface="+mn-ea"/>
                <a:cs typeface="Tahoma"/>
              </a:rPr>
              <a:t>Handle Unbalanced Dataset : Using SMOTE</a:t>
            </a:r>
          </a:p>
          <a:p>
            <a:pPr marL="457200" rtl="0" fontAlgn="base">
              <a:lnSpc>
                <a:spcPct val="150000"/>
              </a:lnSpc>
              <a:spcBef>
                <a:spcPts val="0"/>
              </a:spcBef>
              <a:spcAft>
                <a:spcPts val="0"/>
              </a:spcAft>
              <a:buFont typeface="+mj-lt"/>
              <a:buAutoNum type="arabicPeriod" startAt="4"/>
            </a:pPr>
            <a:r>
              <a:rPr lang="en-US" sz="1600" dirty="0">
                <a:solidFill>
                  <a:schemeClr val="tx1"/>
                </a:solidFill>
                <a:latin typeface="Tahoma"/>
                <a:ea typeface="+mn-ea"/>
                <a:cs typeface="Tahoma"/>
              </a:rPr>
              <a:t>Feature Scaling : </a:t>
            </a:r>
            <a:r>
              <a:rPr lang="en-US" sz="1600" dirty="0" err="1">
                <a:solidFill>
                  <a:schemeClr val="tx1"/>
                </a:solidFill>
                <a:latin typeface="Tahoma"/>
                <a:ea typeface="+mn-ea"/>
                <a:cs typeface="Tahoma"/>
              </a:rPr>
              <a:t>MinMaxScaler</a:t>
            </a:r>
            <a:endParaRPr lang="en-US" sz="1600" dirty="0">
              <a:solidFill>
                <a:schemeClr val="tx1"/>
              </a:solidFill>
              <a:latin typeface="Tahoma"/>
              <a:ea typeface="+mn-ea"/>
              <a:cs typeface="Tahoma"/>
            </a:endParaRPr>
          </a:p>
          <a:p>
            <a:pPr marL="457200" rtl="0" fontAlgn="base">
              <a:lnSpc>
                <a:spcPct val="150000"/>
              </a:lnSpc>
              <a:spcBef>
                <a:spcPts val="0"/>
              </a:spcBef>
              <a:spcAft>
                <a:spcPts val="0"/>
              </a:spcAft>
              <a:buFont typeface="+mj-lt"/>
              <a:buAutoNum type="arabicPeriod" startAt="4"/>
            </a:pPr>
            <a:r>
              <a:rPr lang="en-US" sz="1600" dirty="0">
                <a:solidFill>
                  <a:schemeClr val="tx1"/>
                </a:solidFill>
                <a:latin typeface="Tahoma"/>
                <a:ea typeface="+mn-ea"/>
                <a:cs typeface="Tahoma"/>
              </a:rPr>
              <a:t>Splitting the dataset : train (80%) , test (20%)</a:t>
            </a:r>
          </a:p>
        </p:txBody>
      </p:sp>
    </p:spTree>
    <p:extLst>
      <p:ext uri="{BB962C8B-B14F-4D97-AF65-F5344CB8AC3E}">
        <p14:creationId xmlns:p14="http://schemas.microsoft.com/office/powerpoint/2010/main" val="187712946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95018E-6F37-AD90-B885-272ED64504B4}"/>
              </a:ext>
            </a:extLst>
          </p:cNvPr>
          <p:cNvSpPr>
            <a:spLocks noGrp="1"/>
          </p:cNvSpPr>
          <p:nvPr>
            <p:ph type="title"/>
          </p:nvPr>
        </p:nvSpPr>
        <p:spPr>
          <a:xfrm>
            <a:off x="454863" y="1303731"/>
            <a:ext cx="8989288" cy="938719"/>
          </a:xfrm>
        </p:spPr>
        <p:txBody>
          <a:bodyPr/>
          <a:lstStyle/>
          <a:p>
            <a:r>
              <a:rPr lang="en-US" dirty="0"/>
              <a:t>Classification Modelling : Approach (2)</a:t>
            </a:r>
            <a:br>
              <a:rPr lang="en-US" dirty="0"/>
            </a:br>
            <a:endParaRPr lang="en-US" dirty="0"/>
          </a:p>
        </p:txBody>
      </p:sp>
      <p:sp>
        <p:nvSpPr>
          <p:cNvPr id="4" name="Slide Number Placeholder 3">
            <a:extLst>
              <a:ext uri="{FF2B5EF4-FFF2-40B4-BE49-F238E27FC236}">
                <a16:creationId xmlns:a16="http://schemas.microsoft.com/office/drawing/2014/main" id="{16E30206-686C-3939-9CFE-03BD5044F39E}"/>
              </a:ext>
            </a:extLst>
          </p:cNvPr>
          <p:cNvSpPr>
            <a:spLocks noGrp="1"/>
          </p:cNvSpPr>
          <p:nvPr>
            <p:ph type="sldNum" sz="quarter" idx="7"/>
          </p:nvPr>
        </p:nvSpPr>
        <p:spPr/>
        <p:txBody>
          <a:bodyPr/>
          <a:lstStyle/>
          <a:p>
            <a:pPr marL="38100">
              <a:lnSpc>
                <a:spcPts val="1240"/>
              </a:lnSpc>
            </a:pPr>
            <a:fld id="{81D60167-4931-47E6-BA6A-407CBD079E47}" type="slidenum">
              <a:rPr lang="en-US" spc="-25" smtClean="0"/>
              <a:t>24</a:t>
            </a:fld>
            <a:endParaRPr lang="en-US" spc="-25" dirty="0"/>
          </a:p>
        </p:txBody>
      </p:sp>
      <p:graphicFrame>
        <p:nvGraphicFramePr>
          <p:cNvPr id="8" name="Table 7">
            <a:extLst>
              <a:ext uri="{FF2B5EF4-FFF2-40B4-BE49-F238E27FC236}">
                <a16:creationId xmlns:a16="http://schemas.microsoft.com/office/drawing/2014/main" id="{E8EB787A-F902-D6B8-0BF3-BF8D7CE8FE22}"/>
              </a:ext>
            </a:extLst>
          </p:cNvPr>
          <p:cNvGraphicFramePr>
            <a:graphicFrameLocks noGrp="1"/>
          </p:cNvGraphicFramePr>
          <p:nvPr>
            <p:extLst>
              <p:ext uri="{D42A27DB-BD31-4B8C-83A1-F6EECF244321}">
                <p14:modId xmlns:p14="http://schemas.microsoft.com/office/powerpoint/2010/main" val="2878784853"/>
              </p:ext>
            </p:extLst>
          </p:nvPr>
        </p:nvGraphicFramePr>
        <p:xfrm>
          <a:off x="228598" y="3133962"/>
          <a:ext cx="5029202" cy="1234440"/>
        </p:xfrm>
        <a:graphic>
          <a:graphicData uri="http://schemas.openxmlformats.org/drawingml/2006/table">
            <a:tbl>
              <a:tblPr/>
              <a:tblGrid>
                <a:gridCol w="1197429">
                  <a:extLst>
                    <a:ext uri="{9D8B030D-6E8A-4147-A177-3AD203B41FA5}">
                      <a16:colId xmlns:a16="http://schemas.microsoft.com/office/drawing/2014/main" val="1481141084"/>
                    </a:ext>
                  </a:extLst>
                </a:gridCol>
                <a:gridCol w="836377">
                  <a:extLst>
                    <a:ext uri="{9D8B030D-6E8A-4147-A177-3AD203B41FA5}">
                      <a16:colId xmlns:a16="http://schemas.microsoft.com/office/drawing/2014/main" val="3938090094"/>
                    </a:ext>
                  </a:extLst>
                </a:gridCol>
                <a:gridCol w="748849">
                  <a:extLst>
                    <a:ext uri="{9D8B030D-6E8A-4147-A177-3AD203B41FA5}">
                      <a16:colId xmlns:a16="http://schemas.microsoft.com/office/drawing/2014/main" val="1300671372"/>
                    </a:ext>
                  </a:extLst>
                </a:gridCol>
                <a:gridCol w="748849">
                  <a:extLst>
                    <a:ext uri="{9D8B030D-6E8A-4147-A177-3AD203B41FA5}">
                      <a16:colId xmlns:a16="http://schemas.microsoft.com/office/drawing/2014/main" val="214599340"/>
                    </a:ext>
                  </a:extLst>
                </a:gridCol>
                <a:gridCol w="748849">
                  <a:extLst>
                    <a:ext uri="{9D8B030D-6E8A-4147-A177-3AD203B41FA5}">
                      <a16:colId xmlns:a16="http://schemas.microsoft.com/office/drawing/2014/main" val="2745110654"/>
                    </a:ext>
                  </a:extLst>
                </a:gridCol>
                <a:gridCol w="748849">
                  <a:extLst>
                    <a:ext uri="{9D8B030D-6E8A-4147-A177-3AD203B41FA5}">
                      <a16:colId xmlns:a16="http://schemas.microsoft.com/office/drawing/2014/main" val="1194698745"/>
                    </a:ext>
                  </a:extLst>
                </a:gridCol>
              </a:tblGrid>
              <a:tr h="0">
                <a:tc>
                  <a:txBody>
                    <a:bodyPr/>
                    <a:lstStyle/>
                    <a:p>
                      <a:pPr rtl="0" fontAlgn="t">
                        <a:spcBef>
                          <a:spcPts val="0"/>
                        </a:spcBef>
                        <a:spcAft>
                          <a:spcPts val="0"/>
                        </a:spcAft>
                      </a:pPr>
                      <a:r>
                        <a:rPr lang="en-US" sz="1400" dirty="0">
                          <a:solidFill>
                            <a:schemeClr val="tx1"/>
                          </a:solidFill>
                          <a:latin typeface="Tahoma"/>
                          <a:ea typeface="+mn-ea"/>
                          <a:cs typeface="Tahoma"/>
                        </a:rPr>
                        <a:t>ML</a:t>
                      </a:r>
                    </a:p>
                  </a:txBody>
                  <a:tcPr marL="63500" marR="63500" marT="63500" marB="6350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rtl="0" fontAlgn="t">
                        <a:spcBef>
                          <a:spcPts val="0"/>
                        </a:spcBef>
                        <a:spcAft>
                          <a:spcPts val="0"/>
                        </a:spcAft>
                      </a:pPr>
                      <a:r>
                        <a:rPr lang="en-US" sz="1400" dirty="0">
                          <a:solidFill>
                            <a:schemeClr val="tx1"/>
                          </a:solidFill>
                          <a:latin typeface="Tahoma"/>
                          <a:ea typeface="+mn-ea"/>
                          <a:cs typeface="Tahoma"/>
                        </a:rPr>
                        <a:t>Precision</a:t>
                      </a:r>
                    </a:p>
                  </a:txBody>
                  <a:tcPr marL="63500" marR="63500" marT="63500" marB="6350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rtl="0" fontAlgn="t">
                        <a:spcBef>
                          <a:spcPts val="0"/>
                        </a:spcBef>
                        <a:spcAft>
                          <a:spcPts val="0"/>
                        </a:spcAft>
                      </a:pPr>
                      <a:r>
                        <a:rPr lang="en-US" sz="1400">
                          <a:solidFill>
                            <a:schemeClr val="tx1"/>
                          </a:solidFill>
                          <a:latin typeface="Tahoma"/>
                          <a:ea typeface="+mn-ea"/>
                          <a:cs typeface="Tahoma"/>
                        </a:rPr>
                        <a:t>Recall</a:t>
                      </a:r>
                    </a:p>
                  </a:txBody>
                  <a:tcPr marL="63500" marR="63500" marT="63500" marB="6350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rtl="0" fontAlgn="t">
                        <a:spcBef>
                          <a:spcPts val="0"/>
                        </a:spcBef>
                        <a:spcAft>
                          <a:spcPts val="0"/>
                        </a:spcAft>
                      </a:pPr>
                      <a:r>
                        <a:rPr lang="en-US" sz="1400">
                          <a:solidFill>
                            <a:schemeClr val="tx1"/>
                          </a:solidFill>
                          <a:latin typeface="Tahoma"/>
                          <a:ea typeface="+mn-ea"/>
                          <a:cs typeface="Tahoma"/>
                        </a:rPr>
                        <a:t>F1-Score</a:t>
                      </a:r>
                    </a:p>
                  </a:txBody>
                  <a:tcPr marL="63500" marR="63500" marT="63500" marB="6350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rtl="0" fontAlgn="t">
                        <a:spcBef>
                          <a:spcPts val="0"/>
                        </a:spcBef>
                        <a:spcAft>
                          <a:spcPts val="0"/>
                        </a:spcAft>
                      </a:pPr>
                      <a:r>
                        <a:rPr lang="en-US" sz="1400" dirty="0">
                          <a:solidFill>
                            <a:schemeClr val="tx1"/>
                          </a:solidFill>
                          <a:latin typeface="Tahoma"/>
                          <a:ea typeface="+mn-ea"/>
                          <a:cs typeface="Tahoma"/>
                        </a:rPr>
                        <a:t>Acc (Test)</a:t>
                      </a:r>
                    </a:p>
                  </a:txBody>
                  <a:tcPr marL="63500" marR="63500" marT="63500" marB="6350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rtl="0" fontAlgn="t">
                        <a:spcBef>
                          <a:spcPts val="0"/>
                        </a:spcBef>
                        <a:spcAft>
                          <a:spcPts val="0"/>
                        </a:spcAft>
                      </a:pPr>
                      <a:r>
                        <a:rPr lang="en-US" sz="1400" dirty="0">
                          <a:solidFill>
                            <a:schemeClr val="tx1"/>
                          </a:solidFill>
                          <a:latin typeface="Tahoma"/>
                          <a:ea typeface="+mn-ea"/>
                          <a:cs typeface="Tahoma"/>
                        </a:rPr>
                        <a:t>Acc (Train)</a:t>
                      </a:r>
                    </a:p>
                  </a:txBody>
                  <a:tcPr marL="63500" marR="63500" marT="63500" marB="6350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069010219"/>
                  </a:ext>
                </a:extLst>
              </a:tr>
              <a:tr h="0">
                <a:tc>
                  <a:txBody>
                    <a:bodyPr/>
                    <a:lstStyle/>
                    <a:p>
                      <a:pPr rtl="0" fontAlgn="t">
                        <a:spcBef>
                          <a:spcPts val="0"/>
                        </a:spcBef>
                        <a:spcAft>
                          <a:spcPts val="0"/>
                        </a:spcAft>
                      </a:pPr>
                      <a:r>
                        <a:rPr lang="en-US" sz="1400" dirty="0" err="1">
                          <a:solidFill>
                            <a:schemeClr val="tx1"/>
                          </a:solidFill>
                          <a:latin typeface="Tahoma"/>
                          <a:ea typeface="+mn-ea"/>
                          <a:cs typeface="Tahoma"/>
                        </a:rPr>
                        <a:t>XGBoost</a:t>
                      </a:r>
                      <a:endParaRPr lang="en-US" sz="1400" dirty="0">
                        <a:solidFill>
                          <a:schemeClr val="tx1"/>
                        </a:solidFill>
                        <a:latin typeface="Tahoma"/>
                        <a:ea typeface="+mn-ea"/>
                        <a:cs typeface="Tahoma"/>
                      </a:endParaRPr>
                    </a:p>
                  </a:txBody>
                  <a:tcPr marL="63500" marR="63500" marT="63500" marB="6350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rtl="0" fontAlgn="t">
                        <a:spcBef>
                          <a:spcPts val="0"/>
                        </a:spcBef>
                        <a:spcAft>
                          <a:spcPts val="0"/>
                        </a:spcAft>
                      </a:pPr>
                      <a:r>
                        <a:rPr lang="en-US" sz="1400">
                          <a:solidFill>
                            <a:schemeClr val="tx1"/>
                          </a:solidFill>
                          <a:latin typeface="Tahoma"/>
                          <a:ea typeface="+mn-ea"/>
                          <a:cs typeface="Tahoma"/>
                        </a:rPr>
                        <a:t>0.93</a:t>
                      </a:r>
                    </a:p>
                  </a:txBody>
                  <a:tcPr marL="63500" marR="63500" marT="63500" marB="6350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rtl="0" fontAlgn="t">
                        <a:spcBef>
                          <a:spcPts val="0"/>
                        </a:spcBef>
                        <a:spcAft>
                          <a:spcPts val="0"/>
                        </a:spcAft>
                      </a:pPr>
                      <a:r>
                        <a:rPr lang="en-US" sz="1400">
                          <a:solidFill>
                            <a:schemeClr val="tx1"/>
                          </a:solidFill>
                          <a:latin typeface="Tahoma"/>
                          <a:ea typeface="+mn-ea"/>
                          <a:cs typeface="Tahoma"/>
                        </a:rPr>
                        <a:t>0.87</a:t>
                      </a:r>
                    </a:p>
                  </a:txBody>
                  <a:tcPr marL="63500" marR="63500" marT="63500" marB="6350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rtl="0" fontAlgn="t">
                        <a:spcBef>
                          <a:spcPts val="0"/>
                        </a:spcBef>
                        <a:spcAft>
                          <a:spcPts val="0"/>
                        </a:spcAft>
                      </a:pPr>
                      <a:r>
                        <a:rPr lang="en-US" sz="1400">
                          <a:solidFill>
                            <a:schemeClr val="tx1"/>
                          </a:solidFill>
                          <a:latin typeface="Tahoma"/>
                          <a:ea typeface="+mn-ea"/>
                          <a:cs typeface="Tahoma"/>
                        </a:rPr>
                        <a:t>0.89</a:t>
                      </a:r>
                    </a:p>
                  </a:txBody>
                  <a:tcPr marL="63500" marR="63500" marT="63500" marB="6350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rtl="0" fontAlgn="t">
                        <a:spcBef>
                          <a:spcPts val="0"/>
                        </a:spcBef>
                        <a:spcAft>
                          <a:spcPts val="0"/>
                        </a:spcAft>
                      </a:pPr>
                      <a:r>
                        <a:rPr lang="en-US" sz="1400" dirty="0">
                          <a:solidFill>
                            <a:schemeClr val="tx1"/>
                          </a:solidFill>
                          <a:latin typeface="Tahoma"/>
                          <a:ea typeface="+mn-ea"/>
                          <a:cs typeface="Tahoma"/>
                        </a:rPr>
                        <a:t>0.90</a:t>
                      </a:r>
                    </a:p>
                  </a:txBody>
                  <a:tcPr marL="63500" marR="63500" marT="63500" marB="6350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rtl="0" fontAlgn="t">
                        <a:spcBef>
                          <a:spcPts val="0"/>
                        </a:spcBef>
                        <a:spcAft>
                          <a:spcPts val="0"/>
                        </a:spcAft>
                      </a:pPr>
                      <a:r>
                        <a:rPr lang="en-US" sz="1400" dirty="0">
                          <a:solidFill>
                            <a:schemeClr val="tx1"/>
                          </a:solidFill>
                          <a:latin typeface="Tahoma"/>
                          <a:ea typeface="+mn-ea"/>
                          <a:cs typeface="Tahoma"/>
                        </a:rPr>
                        <a:t>0.91</a:t>
                      </a:r>
                    </a:p>
                  </a:txBody>
                  <a:tcPr marL="63500" marR="63500" marT="63500" marB="6350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21770795"/>
                  </a:ext>
                </a:extLst>
              </a:tr>
              <a:tr h="0">
                <a:tc>
                  <a:txBody>
                    <a:bodyPr/>
                    <a:lstStyle/>
                    <a:p>
                      <a:pPr rtl="0" fontAlgn="t">
                        <a:spcBef>
                          <a:spcPts val="0"/>
                        </a:spcBef>
                        <a:spcAft>
                          <a:spcPts val="0"/>
                        </a:spcAft>
                      </a:pPr>
                      <a:r>
                        <a:rPr lang="en-US" sz="1400" dirty="0" err="1">
                          <a:solidFill>
                            <a:schemeClr val="tx1"/>
                          </a:solidFill>
                          <a:latin typeface="Tahoma"/>
                          <a:ea typeface="+mn-ea"/>
                          <a:cs typeface="Tahoma"/>
                        </a:rPr>
                        <a:t>SDGClassifier</a:t>
                      </a:r>
                      <a:endParaRPr lang="en-US" sz="1400" dirty="0">
                        <a:solidFill>
                          <a:schemeClr val="tx1"/>
                        </a:solidFill>
                        <a:latin typeface="Tahoma"/>
                        <a:ea typeface="+mn-ea"/>
                        <a:cs typeface="Tahoma"/>
                      </a:endParaRPr>
                    </a:p>
                  </a:txBody>
                  <a:tcPr marL="63500" marR="63500" marT="63500" marB="6350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rtl="0" fontAlgn="t">
                        <a:spcBef>
                          <a:spcPts val="0"/>
                        </a:spcBef>
                        <a:spcAft>
                          <a:spcPts val="0"/>
                        </a:spcAft>
                      </a:pPr>
                      <a:r>
                        <a:rPr lang="en-US" sz="1400">
                          <a:solidFill>
                            <a:schemeClr val="tx1"/>
                          </a:solidFill>
                          <a:latin typeface="Tahoma"/>
                          <a:ea typeface="+mn-ea"/>
                          <a:cs typeface="Tahoma"/>
                        </a:rPr>
                        <a:t>0.89</a:t>
                      </a:r>
                    </a:p>
                  </a:txBody>
                  <a:tcPr marL="63500" marR="63500" marT="63500" marB="6350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rtl="0" fontAlgn="t">
                        <a:spcBef>
                          <a:spcPts val="0"/>
                        </a:spcBef>
                        <a:spcAft>
                          <a:spcPts val="0"/>
                        </a:spcAft>
                      </a:pPr>
                      <a:r>
                        <a:rPr lang="en-US" sz="1400">
                          <a:solidFill>
                            <a:schemeClr val="tx1"/>
                          </a:solidFill>
                          <a:latin typeface="Tahoma"/>
                          <a:ea typeface="+mn-ea"/>
                          <a:cs typeface="Tahoma"/>
                        </a:rPr>
                        <a:t>0.82</a:t>
                      </a:r>
                    </a:p>
                  </a:txBody>
                  <a:tcPr marL="63500" marR="63500" marT="63500" marB="6350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rtl="0" fontAlgn="t">
                        <a:spcBef>
                          <a:spcPts val="0"/>
                        </a:spcBef>
                        <a:spcAft>
                          <a:spcPts val="0"/>
                        </a:spcAft>
                      </a:pPr>
                      <a:r>
                        <a:rPr lang="en-US" sz="1400">
                          <a:solidFill>
                            <a:schemeClr val="tx1"/>
                          </a:solidFill>
                          <a:latin typeface="Tahoma"/>
                          <a:ea typeface="+mn-ea"/>
                          <a:cs typeface="Tahoma"/>
                        </a:rPr>
                        <a:t>0.85</a:t>
                      </a:r>
                    </a:p>
                  </a:txBody>
                  <a:tcPr marL="63500" marR="63500" marT="63500" marB="6350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rtl="0" fontAlgn="t">
                        <a:spcBef>
                          <a:spcPts val="0"/>
                        </a:spcBef>
                        <a:spcAft>
                          <a:spcPts val="0"/>
                        </a:spcAft>
                      </a:pPr>
                      <a:r>
                        <a:rPr lang="en-US" sz="1400" dirty="0">
                          <a:solidFill>
                            <a:schemeClr val="tx1"/>
                          </a:solidFill>
                          <a:latin typeface="Tahoma"/>
                          <a:ea typeface="+mn-ea"/>
                          <a:cs typeface="Tahoma"/>
                        </a:rPr>
                        <a:t>0.85</a:t>
                      </a:r>
                    </a:p>
                  </a:txBody>
                  <a:tcPr marL="63500" marR="63500" marT="63500" marB="6350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rtl="0" fontAlgn="t">
                        <a:spcBef>
                          <a:spcPts val="0"/>
                        </a:spcBef>
                        <a:spcAft>
                          <a:spcPts val="0"/>
                        </a:spcAft>
                      </a:pPr>
                      <a:r>
                        <a:rPr lang="en-US" sz="1400" dirty="0">
                          <a:solidFill>
                            <a:schemeClr val="tx1"/>
                          </a:solidFill>
                          <a:latin typeface="Tahoma"/>
                          <a:ea typeface="+mn-ea"/>
                          <a:cs typeface="Tahoma"/>
                        </a:rPr>
                        <a:t>0.87</a:t>
                      </a:r>
                    </a:p>
                  </a:txBody>
                  <a:tcPr marL="63500" marR="63500" marT="63500" marB="6350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054151251"/>
                  </a:ext>
                </a:extLst>
              </a:tr>
            </a:tbl>
          </a:graphicData>
        </a:graphic>
      </p:graphicFrame>
      <p:graphicFrame>
        <p:nvGraphicFramePr>
          <p:cNvPr id="9" name="Table 8">
            <a:extLst>
              <a:ext uri="{FF2B5EF4-FFF2-40B4-BE49-F238E27FC236}">
                <a16:creationId xmlns:a16="http://schemas.microsoft.com/office/drawing/2014/main" id="{82AE2269-AA1C-EA4A-ED1D-2894C7249E98}"/>
              </a:ext>
            </a:extLst>
          </p:cNvPr>
          <p:cNvGraphicFramePr>
            <a:graphicFrameLocks noGrp="1"/>
          </p:cNvGraphicFramePr>
          <p:nvPr>
            <p:extLst>
              <p:ext uri="{D42A27DB-BD31-4B8C-83A1-F6EECF244321}">
                <p14:modId xmlns:p14="http://schemas.microsoft.com/office/powerpoint/2010/main" val="1952584494"/>
              </p:ext>
            </p:extLst>
          </p:nvPr>
        </p:nvGraphicFramePr>
        <p:xfrm>
          <a:off x="5564322" y="3133962"/>
          <a:ext cx="5943600" cy="3114438"/>
        </p:xfrm>
        <a:graphic>
          <a:graphicData uri="http://schemas.openxmlformats.org/drawingml/2006/table">
            <a:tbl>
              <a:tblPr/>
              <a:tblGrid>
                <a:gridCol w="2971800">
                  <a:extLst>
                    <a:ext uri="{9D8B030D-6E8A-4147-A177-3AD203B41FA5}">
                      <a16:colId xmlns:a16="http://schemas.microsoft.com/office/drawing/2014/main" val="2945611324"/>
                    </a:ext>
                  </a:extLst>
                </a:gridCol>
                <a:gridCol w="2971800">
                  <a:extLst>
                    <a:ext uri="{9D8B030D-6E8A-4147-A177-3AD203B41FA5}">
                      <a16:colId xmlns:a16="http://schemas.microsoft.com/office/drawing/2014/main" val="2769795849"/>
                    </a:ext>
                  </a:extLst>
                </a:gridCol>
              </a:tblGrid>
              <a:tr h="371238">
                <a:tc>
                  <a:txBody>
                    <a:bodyPr/>
                    <a:lstStyle/>
                    <a:p>
                      <a:pPr rtl="0" fontAlgn="t">
                        <a:spcBef>
                          <a:spcPts val="0"/>
                        </a:spcBef>
                        <a:spcAft>
                          <a:spcPts val="0"/>
                        </a:spcAft>
                      </a:pPr>
                      <a:r>
                        <a:rPr lang="en-US" sz="1400" dirty="0" err="1">
                          <a:solidFill>
                            <a:schemeClr val="tx1"/>
                          </a:solidFill>
                          <a:latin typeface="Tahoma"/>
                          <a:ea typeface="+mn-ea"/>
                          <a:cs typeface="Tahoma"/>
                        </a:rPr>
                        <a:t>XGBoost</a:t>
                      </a:r>
                      <a:endParaRPr lang="en-US" sz="1400" dirty="0">
                        <a:solidFill>
                          <a:schemeClr val="tx1"/>
                        </a:solidFill>
                        <a:latin typeface="Tahoma"/>
                        <a:ea typeface="+mn-ea"/>
                        <a:cs typeface="Tahoma"/>
                      </a:endParaRPr>
                    </a:p>
                  </a:txBody>
                  <a:tcPr marL="63500" marR="63500" marT="63500" marB="6350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rtl="0" fontAlgn="t">
                        <a:spcBef>
                          <a:spcPts val="0"/>
                        </a:spcBef>
                        <a:spcAft>
                          <a:spcPts val="0"/>
                        </a:spcAft>
                      </a:pPr>
                      <a:r>
                        <a:rPr lang="en-US" sz="1400" dirty="0" err="1">
                          <a:solidFill>
                            <a:schemeClr val="tx1"/>
                          </a:solidFill>
                          <a:latin typeface="Tahoma"/>
                          <a:ea typeface="+mn-ea"/>
                          <a:cs typeface="Tahoma"/>
                        </a:rPr>
                        <a:t>SDGClassifier</a:t>
                      </a:r>
                      <a:endParaRPr lang="en-US" sz="1400" dirty="0">
                        <a:solidFill>
                          <a:schemeClr val="tx1"/>
                        </a:solidFill>
                        <a:latin typeface="Tahoma"/>
                        <a:ea typeface="+mn-ea"/>
                        <a:cs typeface="Tahoma"/>
                      </a:endParaRPr>
                    </a:p>
                  </a:txBody>
                  <a:tcPr marL="63500" marR="63500" marT="63500" marB="6350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061010367"/>
                  </a:ext>
                </a:extLst>
              </a:tr>
              <a:tr h="2743200">
                <a:tc>
                  <a:txBody>
                    <a:bodyPr/>
                    <a:lstStyle/>
                    <a:p>
                      <a:pPr rtl="0" fontAlgn="base">
                        <a:spcBef>
                          <a:spcPts val="0"/>
                        </a:spcBef>
                        <a:spcAft>
                          <a:spcPts val="0"/>
                        </a:spcAft>
                      </a:pPr>
                      <a:endParaRPr lang="en-US" sz="1050" b="0" i="0" u="none" strike="noStrike" dirty="0">
                        <a:solidFill>
                          <a:srgbClr val="D5D5D5"/>
                        </a:solidFill>
                        <a:effectLst/>
                        <a:latin typeface="Arial" panose="020B0604020202020204" pitchFamily="34" charset="0"/>
                      </a:endParaRPr>
                    </a:p>
                  </a:txBody>
                  <a:tcPr marL="63500" marR="63500" marT="63500" marB="6350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rtl="0" fontAlgn="base">
                        <a:spcBef>
                          <a:spcPts val="0"/>
                        </a:spcBef>
                        <a:spcAft>
                          <a:spcPts val="0"/>
                        </a:spcAft>
                      </a:pPr>
                      <a:endParaRPr lang="en-US" sz="1050" b="0" i="0" u="none" strike="noStrike" dirty="0">
                        <a:solidFill>
                          <a:srgbClr val="D5D5D5"/>
                        </a:solidFill>
                        <a:effectLst/>
                        <a:latin typeface="Arial" panose="020B0604020202020204" pitchFamily="34" charset="0"/>
                      </a:endParaRPr>
                    </a:p>
                  </a:txBody>
                  <a:tcPr marL="63500" marR="63500" marT="63500" marB="6350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574244805"/>
                  </a:ext>
                </a:extLst>
              </a:tr>
            </a:tbl>
          </a:graphicData>
        </a:graphic>
      </p:graphicFrame>
      <p:sp>
        <p:nvSpPr>
          <p:cNvPr id="10" name="Rectangle 1">
            <a:extLst>
              <a:ext uri="{FF2B5EF4-FFF2-40B4-BE49-F238E27FC236}">
                <a16:creationId xmlns:a16="http://schemas.microsoft.com/office/drawing/2014/main" id="{9048EBD2-3ED3-4538-1708-484A439B109A}"/>
              </a:ext>
            </a:extLst>
          </p:cNvPr>
          <p:cNvSpPr>
            <a:spLocks noChangeArrowheads="1"/>
          </p:cNvSpPr>
          <p:nvPr/>
        </p:nvSpPr>
        <p:spPr bwMode="auto">
          <a:xfrm>
            <a:off x="838200" y="1919159"/>
            <a:ext cx="5614037" cy="6001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0" rIns="9144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1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AutoNum type="arabicPeriod"/>
              <a:tabLst/>
            </a:pPr>
            <a:r>
              <a:rPr lang="en-US" altLang="en-US" sz="1400" dirty="0" err="1">
                <a:solidFill>
                  <a:schemeClr val="tx1"/>
                </a:solidFill>
                <a:latin typeface="Tahoma"/>
                <a:ea typeface="+mn-ea"/>
                <a:cs typeface="Tahoma"/>
              </a:rPr>
              <a:t>XGBoost</a:t>
            </a:r>
            <a:r>
              <a:rPr lang="en-US" altLang="en-US" sz="1400" dirty="0">
                <a:solidFill>
                  <a:schemeClr val="tx1"/>
                </a:solidFill>
                <a:latin typeface="Tahoma"/>
                <a:ea typeface="+mn-ea"/>
                <a:cs typeface="Tahoma"/>
              </a:rPr>
              <a:t>: perform Hyperparameter Tuning using “Random Search”</a:t>
            </a:r>
          </a:p>
          <a:p>
            <a:pPr marL="0" marR="0" lvl="0" indent="0" algn="l" defTabSz="914400" rtl="0" eaLnBrk="0" fontAlgn="base" latinLnBrk="0" hangingPunct="0">
              <a:lnSpc>
                <a:spcPct val="100000"/>
              </a:lnSpc>
              <a:spcBef>
                <a:spcPct val="0"/>
              </a:spcBef>
              <a:spcAft>
                <a:spcPct val="0"/>
              </a:spcAft>
              <a:buClrTx/>
              <a:buSzTx/>
              <a:buFontTx/>
              <a:buAutoNum type="arabicPeriod" startAt="2"/>
              <a:tabLst/>
            </a:pPr>
            <a:r>
              <a:rPr lang="en-US" altLang="en-US" sz="1400" dirty="0" err="1">
                <a:solidFill>
                  <a:schemeClr val="tx1"/>
                </a:solidFill>
                <a:latin typeface="Tahoma"/>
                <a:ea typeface="+mn-ea"/>
                <a:cs typeface="Tahoma"/>
              </a:rPr>
              <a:t>SDGClassifier</a:t>
            </a:r>
            <a:r>
              <a:rPr lang="en-US" altLang="en-US" sz="1400" dirty="0">
                <a:solidFill>
                  <a:schemeClr val="tx1"/>
                </a:solidFill>
                <a:latin typeface="Tahoma"/>
                <a:ea typeface="+mn-ea"/>
                <a:cs typeface="Tahoma"/>
              </a:rPr>
              <a:t>          </a:t>
            </a:r>
          </a:p>
        </p:txBody>
      </p:sp>
      <p:pic>
        <p:nvPicPr>
          <p:cNvPr id="2051" name="Picture 3">
            <a:extLst>
              <a:ext uri="{FF2B5EF4-FFF2-40B4-BE49-F238E27FC236}">
                <a16:creationId xmlns:a16="http://schemas.microsoft.com/office/drawing/2014/main" id="{F80BDC89-2470-2F74-4FEE-84E3018673C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558245" y="3600568"/>
            <a:ext cx="2838450" cy="2528238"/>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2">
            <a:extLst>
              <a:ext uri="{FF2B5EF4-FFF2-40B4-BE49-F238E27FC236}">
                <a16:creationId xmlns:a16="http://schemas.microsoft.com/office/drawing/2014/main" id="{15D9115A-DFD6-038E-FEB8-6285DDAFA8A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64322" y="3660385"/>
            <a:ext cx="2838450" cy="246842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2204262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8CD294-4512-0280-AB96-5EAB33352FCC}"/>
              </a:ext>
            </a:extLst>
          </p:cNvPr>
          <p:cNvSpPr>
            <a:spLocks noGrp="1"/>
          </p:cNvSpPr>
          <p:nvPr>
            <p:ph type="title"/>
          </p:nvPr>
        </p:nvSpPr>
        <p:spPr>
          <a:xfrm>
            <a:off x="454862" y="1303731"/>
            <a:ext cx="9527337" cy="1408078"/>
          </a:xfrm>
        </p:spPr>
        <p:txBody>
          <a:bodyPr/>
          <a:lstStyle/>
          <a:p>
            <a:r>
              <a:rPr lang="en-US" dirty="0"/>
              <a:t>Model Deployment for approach (2): By using </a:t>
            </a:r>
            <a:r>
              <a:rPr lang="en-US" dirty="0" err="1"/>
              <a:t>Gradio</a:t>
            </a:r>
            <a:br>
              <a:rPr lang="en-US" dirty="0"/>
            </a:br>
            <a:endParaRPr lang="en-US" dirty="0"/>
          </a:p>
        </p:txBody>
      </p:sp>
      <p:sp>
        <p:nvSpPr>
          <p:cNvPr id="4" name="Slide Number Placeholder 3">
            <a:extLst>
              <a:ext uri="{FF2B5EF4-FFF2-40B4-BE49-F238E27FC236}">
                <a16:creationId xmlns:a16="http://schemas.microsoft.com/office/drawing/2014/main" id="{3A6CA7CA-56F7-9BD2-AAD6-7707DED3527A}"/>
              </a:ext>
            </a:extLst>
          </p:cNvPr>
          <p:cNvSpPr>
            <a:spLocks noGrp="1"/>
          </p:cNvSpPr>
          <p:nvPr>
            <p:ph type="sldNum" sz="quarter" idx="7"/>
          </p:nvPr>
        </p:nvSpPr>
        <p:spPr/>
        <p:txBody>
          <a:bodyPr/>
          <a:lstStyle/>
          <a:p>
            <a:pPr marL="38100">
              <a:lnSpc>
                <a:spcPts val="1240"/>
              </a:lnSpc>
            </a:pPr>
            <a:fld id="{81D60167-4931-47E6-BA6A-407CBD079E47}" type="slidenum">
              <a:rPr lang="en-US" spc="-25" smtClean="0"/>
              <a:t>25</a:t>
            </a:fld>
            <a:endParaRPr lang="en-US" spc="-25" dirty="0"/>
          </a:p>
        </p:txBody>
      </p:sp>
      <p:pic>
        <p:nvPicPr>
          <p:cNvPr id="5" name="Picture 4">
            <a:extLst>
              <a:ext uri="{FF2B5EF4-FFF2-40B4-BE49-F238E27FC236}">
                <a16:creationId xmlns:a16="http://schemas.microsoft.com/office/drawing/2014/main" id="{47BEBD0F-8EDC-E244-6DFE-E15EF83B2FD4}"/>
              </a:ext>
            </a:extLst>
          </p:cNvPr>
          <p:cNvPicPr>
            <a:picLocks noChangeAspect="1"/>
          </p:cNvPicPr>
          <p:nvPr/>
        </p:nvPicPr>
        <p:blipFill>
          <a:blip r:embed="rId2"/>
          <a:stretch>
            <a:fillRect/>
          </a:stretch>
        </p:blipFill>
        <p:spPr>
          <a:xfrm>
            <a:off x="459528" y="1905000"/>
            <a:ext cx="8608272" cy="4738014"/>
          </a:xfrm>
          <a:prstGeom prst="rect">
            <a:avLst/>
          </a:prstGeom>
        </p:spPr>
      </p:pic>
    </p:spTree>
    <p:extLst>
      <p:ext uri="{BB962C8B-B14F-4D97-AF65-F5344CB8AC3E}">
        <p14:creationId xmlns:p14="http://schemas.microsoft.com/office/powerpoint/2010/main" val="124906816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8CD294-4512-0280-AB96-5EAB33352FCC}"/>
              </a:ext>
            </a:extLst>
          </p:cNvPr>
          <p:cNvSpPr>
            <a:spLocks noGrp="1"/>
          </p:cNvSpPr>
          <p:nvPr>
            <p:ph type="title"/>
          </p:nvPr>
        </p:nvSpPr>
        <p:spPr>
          <a:xfrm>
            <a:off x="454862" y="1303731"/>
            <a:ext cx="9527337" cy="1408078"/>
          </a:xfrm>
        </p:spPr>
        <p:txBody>
          <a:bodyPr/>
          <a:lstStyle/>
          <a:p>
            <a:r>
              <a:rPr lang="en-US" dirty="0"/>
              <a:t>Model Deployment for approach (2): By using </a:t>
            </a:r>
            <a:r>
              <a:rPr lang="en-US" dirty="0" err="1"/>
              <a:t>Gradio</a:t>
            </a:r>
            <a:br>
              <a:rPr lang="en-US" dirty="0"/>
            </a:br>
            <a:endParaRPr lang="en-US" dirty="0"/>
          </a:p>
        </p:txBody>
      </p:sp>
      <p:sp>
        <p:nvSpPr>
          <p:cNvPr id="4" name="Slide Number Placeholder 3">
            <a:extLst>
              <a:ext uri="{FF2B5EF4-FFF2-40B4-BE49-F238E27FC236}">
                <a16:creationId xmlns:a16="http://schemas.microsoft.com/office/drawing/2014/main" id="{3A6CA7CA-56F7-9BD2-AAD6-7707DED3527A}"/>
              </a:ext>
            </a:extLst>
          </p:cNvPr>
          <p:cNvSpPr>
            <a:spLocks noGrp="1"/>
          </p:cNvSpPr>
          <p:nvPr>
            <p:ph type="sldNum" sz="quarter" idx="7"/>
          </p:nvPr>
        </p:nvSpPr>
        <p:spPr/>
        <p:txBody>
          <a:bodyPr/>
          <a:lstStyle/>
          <a:p>
            <a:pPr marL="38100">
              <a:lnSpc>
                <a:spcPts val="1240"/>
              </a:lnSpc>
            </a:pPr>
            <a:fld id="{81D60167-4931-47E6-BA6A-407CBD079E47}" type="slidenum">
              <a:rPr lang="en-US" spc="-25" smtClean="0"/>
              <a:t>26</a:t>
            </a:fld>
            <a:endParaRPr lang="en-US" spc="-25" dirty="0"/>
          </a:p>
        </p:txBody>
      </p:sp>
      <p:pic>
        <p:nvPicPr>
          <p:cNvPr id="6" name="Picture 5">
            <a:extLst>
              <a:ext uri="{FF2B5EF4-FFF2-40B4-BE49-F238E27FC236}">
                <a16:creationId xmlns:a16="http://schemas.microsoft.com/office/drawing/2014/main" id="{2C37E562-861B-031C-47DC-66A34F5AE808}"/>
              </a:ext>
            </a:extLst>
          </p:cNvPr>
          <p:cNvPicPr>
            <a:picLocks noChangeAspect="1"/>
          </p:cNvPicPr>
          <p:nvPr/>
        </p:nvPicPr>
        <p:blipFill>
          <a:blip r:embed="rId2"/>
          <a:srcRect l="3916" t="4255" r="9754"/>
          <a:stretch/>
        </p:blipFill>
        <p:spPr>
          <a:xfrm>
            <a:off x="150061" y="2438400"/>
            <a:ext cx="8384339" cy="3429000"/>
          </a:xfrm>
          <a:prstGeom prst="rect">
            <a:avLst/>
          </a:prstGeom>
        </p:spPr>
      </p:pic>
      <p:pic>
        <p:nvPicPr>
          <p:cNvPr id="8" name="Picture 7">
            <a:extLst>
              <a:ext uri="{FF2B5EF4-FFF2-40B4-BE49-F238E27FC236}">
                <a16:creationId xmlns:a16="http://schemas.microsoft.com/office/drawing/2014/main" id="{DEC856AB-B5F3-DCE1-77DF-53FA378AE659}"/>
              </a:ext>
            </a:extLst>
          </p:cNvPr>
          <p:cNvPicPr>
            <a:picLocks noChangeAspect="1"/>
          </p:cNvPicPr>
          <p:nvPr/>
        </p:nvPicPr>
        <p:blipFill>
          <a:blip r:embed="rId3"/>
          <a:stretch>
            <a:fillRect/>
          </a:stretch>
        </p:blipFill>
        <p:spPr>
          <a:xfrm>
            <a:off x="8777642" y="2562298"/>
            <a:ext cx="3239609" cy="3181204"/>
          </a:xfrm>
          <a:prstGeom prst="rect">
            <a:avLst/>
          </a:prstGeom>
        </p:spPr>
      </p:pic>
    </p:spTree>
    <p:extLst>
      <p:ext uri="{BB962C8B-B14F-4D97-AF65-F5344CB8AC3E}">
        <p14:creationId xmlns:p14="http://schemas.microsoft.com/office/powerpoint/2010/main" val="376607459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80E9D7-1127-1DE3-B83D-B6CADF1B63AC}"/>
              </a:ext>
            </a:extLst>
          </p:cNvPr>
          <p:cNvSpPr>
            <a:spLocks noGrp="1"/>
          </p:cNvSpPr>
          <p:nvPr>
            <p:ph type="title"/>
          </p:nvPr>
        </p:nvSpPr>
        <p:spPr>
          <a:xfrm>
            <a:off x="454863" y="1303731"/>
            <a:ext cx="8989288" cy="469359"/>
          </a:xfrm>
        </p:spPr>
        <p:txBody>
          <a:bodyPr/>
          <a:lstStyle/>
          <a:p>
            <a:r>
              <a:rPr lang="en-US" dirty="0"/>
              <a:t>Conclusion</a:t>
            </a:r>
          </a:p>
        </p:txBody>
      </p:sp>
      <p:sp>
        <p:nvSpPr>
          <p:cNvPr id="3" name="Text Placeholder 2">
            <a:extLst>
              <a:ext uri="{FF2B5EF4-FFF2-40B4-BE49-F238E27FC236}">
                <a16:creationId xmlns:a16="http://schemas.microsoft.com/office/drawing/2014/main" id="{91243EDB-3BB5-7AC5-2F0A-CE6CFA35B646}"/>
              </a:ext>
            </a:extLst>
          </p:cNvPr>
          <p:cNvSpPr>
            <a:spLocks noGrp="1"/>
          </p:cNvSpPr>
          <p:nvPr>
            <p:ph type="body" idx="1"/>
          </p:nvPr>
        </p:nvSpPr>
        <p:spPr>
          <a:xfrm>
            <a:off x="1268983" y="2402585"/>
            <a:ext cx="9322817" cy="3388615"/>
          </a:xfrm>
        </p:spPr>
        <p:txBody>
          <a:bodyPr/>
          <a:lstStyle/>
          <a:p>
            <a:pPr algn="just"/>
            <a:r>
              <a:rPr lang="en-US" sz="2000" dirty="0">
                <a:solidFill>
                  <a:schemeClr val="tx1"/>
                </a:solidFill>
              </a:rPr>
              <a:t>This project provided valuable insights into customer churn behavior within the banking sector by thoroughly analyzing the bank customer churn dataset. Through Exploratory Data Analysis (EDA), we identified key factors influencing customer retention, such as age, balance, and product usage. Feature engineering allowed us to create meaningful features that captured deeper relationships within the data, while data preprocessing ensured that the dataset was ready for classification modeling. By evaluating various machine learning models, we were able to identify the most effective approach to predicting customer churn, with a particular focus on optimizing for class imbalance. These results can help banks develop more targeted strategies to retain high-value customers and enhance overall customer satisfaction.</a:t>
            </a:r>
          </a:p>
        </p:txBody>
      </p:sp>
      <p:sp>
        <p:nvSpPr>
          <p:cNvPr id="4" name="Slide Number Placeholder 3">
            <a:extLst>
              <a:ext uri="{FF2B5EF4-FFF2-40B4-BE49-F238E27FC236}">
                <a16:creationId xmlns:a16="http://schemas.microsoft.com/office/drawing/2014/main" id="{F0EBC6F7-B4D8-B29C-7778-CBFE2FC58F05}"/>
              </a:ext>
            </a:extLst>
          </p:cNvPr>
          <p:cNvSpPr>
            <a:spLocks noGrp="1"/>
          </p:cNvSpPr>
          <p:nvPr>
            <p:ph type="sldNum" sz="quarter" idx="7"/>
          </p:nvPr>
        </p:nvSpPr>
        <p:spPr/>
        <p:txBody>
          <a:bodyPr/>
          <a:lstStyle/>
          <a:p>
            <a:pPr marL="38100">
              <a:lnSpc>
                <a:spcPts val="1240"/>
              </a:lnSpc>
            </a:pPr>
            <a:fld id="{81D60167-4931-47E6-BA6A-407CBD079E47}" type="slidenum">
              <a:rPr lang="en-US" spc="-25" smtClean="0"/>
              <a:t>27</a:t>
            </a:fld>
            <a:endParaRPr lang="en-US" spc="-25" dirty="0"/>
          </a:p>
        </p:txBody>
      </p:sp>
    </p:spTree>
    <p:extLst>
      <p:ext uri="{BB962C8B-B14F-4D97-AF65-F5344CB8AC3E}">
        <p14:creationId xmlns:p14="http://schemas.microsoft.com/office/powerpoint/2010/main" val="213370193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352800" y="2382710"/>
            <a:ext cx="5604891" cy="1545936"/>
          </a:xfrm>
          <a:prstGeom prst="rect">
            <a:avLst/>
          </a:prstGeom>
        </p:spPr>
        <p:txBody>
          <a:bodyPr vert="horz" wrap="square" lIns="0" tIns="12065" rIns="0" bIns="0" rtlCol="0">
            <a:spAutoFit/>
          </a:bodyPr>
          <a:lstStyle>
            <a:lvl1pPr marL="12700">
              <a:lnSpc>
                <a:spcPct val="100000"/>
              </a:lnSpc>
              <a:spcBef>
                <a:spcPts val="95"/>
              </a:spcBef>
              <a:defRPr sz="8800" b="0" i="0" spc="-10">
                <a:solidFill>
                  <a:srgbClr val="20C3AB"/>
                </a:solidFill>
                <a:latin typeface="Arial"/>
                <a:ea typeface="+mj-ea"/>
                <a:cs typeface="Arial"/>
              </a:defRPr>
            </a:lvl1pPr>
          </a:lstStyle>
          <a:p>
            <a:pPr algn="ctr"/>
            <a:r>
              <a:rPr sz="4000" dirty="0">
                <a:solidFill>
                  <a:srgbClr val="2BAE82"/>
                </a:solidFill>
              </a:rPr>
              <a:t>Q&amp;A</a:t>
            </a:r>
          </a:p>
          <a:p>
            <a:pPr algn="ctr"/>
            <a:endParaRPr sz="1800" dirty="0">
              <a:solidFill>
                <a:srgbClr val="2BAE82"/>
              </a:solidFill>
            </a:endParaRPr>
          </a:p>
          <a:p>
            <a:pPr algn="ctr"/>
            <a:r>
              <a:rPr sz="4000" dirty="0">
                <a:solidFill>
                  <a:srgbClr val="2BAE82"/>
                </a:solidFill>
              </a:rPr>
              <a:t>Questions </a:t>
            </a:r>
            <a:r>
              <a:rPr sz="4000">
                <a:solidFill>
                  <a:srgbClr val="2BAE82"/>
                </a:solidFill>
              </a:rPr>
              <a:t>and </a:t>
            </a:r>
            <a:r>
              <a:rPr lang="en-US" sz="4000">
                <a:solidFill>
                  <a:srgbClr val="2BAE82"/>
                </a:solidFill>
              </a:rPr>
              <a:t>A</a:t>
            </a:r>
            <a:r>
              <a:rPr sz="4000">
                <a:solidFill>
                  <a:srgbClr val="2BAE82"/>
                </a:solidFill>
              </a:rPr>
              <a:t>nswers</a:t>
            </a:r>
            <a:endParaRPr sz="4000" dirty="0">
              <a:solidFill>
                <a:srgbClr val="2BAE82"/>
              </a:solidFill>
            </a:endParaRPr>
          </a:p>
        </p:txBody>
      </p:sp>
      <p:sp>
        <p:nvSpPr>
          <p:cNvPr id="3" name="object 3"/>
          <p:cNvSpPr txBox="1">
            <a:spLocks noGrp="1"/>
          </p:cNvSpPr>
          <p:nvPr>
            <p:ph type="sldNum" sz="quarter" idx="7"/>
          </p:nvPr>
        </p:nvSpPr>
        <p:spPr>
          <a:prstGeom prst="rect">
            <a:avLst/>
          </a:prstGeom>
        </p:spPr>
        <p:txBody>
          <a:bodyPr vert="horz" wrap="square" lIns="0" tIns="0" rIns="0" bIns="0" rtlCol="0">
            <a:spAutoFit/>
          </a:bodyPr>
          <a:lstStyle/>
          <a:p>
            <a:pPr marL="38100">
              <a:lnSpc>
                <a:spcPts val="1240"/>
              </a:lnSpc>
            </a:pPr>
            <a:fld id="{81D60167-4931-47E6-BA6A-407CBD079E47}" type="slidenum">
              <a:rPr spc="-25" dirty="0"/>
              <a:t>28</a:t>
            </a:fld>
            <a:endParaRPr spc="-25"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010025" y="2662250"/>
            <a:ext cx="3686175" cy="1366520"/>
          </a:xfrm>
          <a:prstGeom prst="rect">
            <a:avLst/>
          </a:prstGeom>
        </p:spPr>
        <p:txBody>
          <a:bodyPr vert="horz" wrap="square" lIns="0" tIns="12065" rIns="0" bIns="0" rtlCol="0">
            <a:spAutoFit/>
          </a:bodyPr>
          <a:lstStyle/>
          <a:p>
            <a:pPr marL="12700">
              <a:lnSpc>
                <a:spcPct val="100000"/>
              </a:lnSpc>
              <a:spcBef>
                <a:spcPts val="95"/>
              </a:spcBef>
            </a:pPr>
            <a:r>
              <a:rPr sz="8800" spc="-10" dirty="0">
                <a:solidFill>
                  <a:srgbClr val="2BAE82"/>
                </a:solidFill>
                <a:latin typeface="Arial"/>
                <a:cs typeface="Arial"/>
              </a:rPr>
              <a:t>Thanks</a:t>
            </a:r>
            <a:endParaRPr sz="8800" dirty="0">
              <a:solidFill>
                <a:srgbClr val="2BAE82"/>
              </a:solidFill>
              <a:latin typeface="Arial"/>
              <a:cs typeface="Arial"/>
            </a:endParaRPr>
          </a:p>
        </p:txBody>
      </p:sp>
      <p:sp>
        <p:nvSpPr>
          <p:cNvPr id="3" name="object 3"/>
          <p:cNvSpPr txBox="1">
            <a:spLocks noGrp="1"/>
          </p:cNvSpPr>
          <p:nvPr>
            <p:ph type="sldNum" sz="quarter" idx="7"/>
          </p:nvPr>
        </p:nvSpPr>
        <p:spPr>
          <a:prstGeom prst="rect">
            <a:avLst/>
          </a:prstGeom>
        </p:spPr>
        <p:txBody>
          <a:bodyPr vert="horz" wrap="square" lIns="0" tIns="0" rIns="0" bIns="0" rtlCol="0">
            <a:spAutoFit/>
          </a:bodyPr>
          <a:lstStyle/>
          <a:p>
            <a:pPr marL="38100">
              <a:lnSpc>
                <a:spcPts val="1240"/>
              </a:lnSpc>
            </a:pPr>
            <a:fld id="{81D60167-4931-47E6-BA6A-407CBD079E47}" type="slidenum">
              <a:rPr spc="-25" dirty="0"/>
              <a:t>29</a:t>
            </a:fld>
            <a:endParaRPr spc="-25"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491</TotalTime>
  <Words>843</Words>
  <Application>Microsoft Office PowerPoint</Application>
  <PresentationFormat>Widescreen</PresentationFormat>
  <Paragraphs>123</Paragraphs>
  <Slides>29</Slides>
  <Notes>4</Notes>
  <HiddenSlides>2</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29</vt:i4>
      </vt:variant>
    </vt:vector>
  </HeadingPairs>
  <TitlesOfParts>
    <vt:vector size="35" baseType="lpstr">
      <vt:lpstr>Arial</vt:lpstr>
      <vt:lpstr>Calibri</vt:lpstr>
      <vt:lpstr>Inter</vt:lpstr>
      <vt:lpstr>Tahoma</vt:lpstr>
      <vt:lpstr>Trebuchet MS</vt:lpstr>
      <vt:lpstr>Office Theme</vt:lpstr>
      <vt:lpstr>Bank Customer Churn Prediction</vt:lpstr>
      <vt:lpstr>PowerPoint Presentation</vt:lpstr>
      <vt:lpstr>Table of Contents</vt:lpstr>
      <vt:lpstr>Introduction</vt:lpstr>
      <vt:lpstr>Importing libraries</vt:lpstr>
      <vt:lpstr>Loading Data </vt:lpstr>
      <vt:lpstr>Exploratory Data Analysis (EDA) </vt:lpstr>
      <vt:lpstr>Exploratory Data Analysis (EDA)</vt:lpstr>
      <vt:lpstr>Exploratory Data Analysis (EDA) : Data Visualization</vt:lpstr>
      <vt:lpstr>Exploratory Data Analysis (EDA) : Data Visualization</vt:lpstr>
      <vt:lpstr>Exploratory Data Analysis (EDA) : Outliers</vt:lpstr>
      <vt:lpstr>Dashboard [ Power Bi ]</vt:lpstr>
      <vt:lpstr>Dashboard [ Power Bi ]</vt:lpstr>
      <vt:lpstr>Feature Engineering: Data Correlation</vt:lpstr>
      <vt:lpstr>Feature Engineering Approach (1): Grouping Zero Balance Customers </vt:lpstr>
      <vt:lpstr>Feature Engineering : Active Level Grouping </vt:lpstr>
      <vt:lpstr>Feature Engineering : Feature Creation </vt:lpstr>
      <vt:lpstr>Data Preprocessing : Approach (1) </vt:lpstr>
      <vt:lpstr>Data Preprocessing : Encoding categorical features </vt:lpstr>
      <vt:lpstr>Data Preprocessing : Splitting Data </vt:lpstr>
      <vt:lpstr>Data Preprocessing : Normalization </vt:lpstr>
      <vt:lpstr>Classification Modelling : Approach (1) </vt:lpstr>
      <vt:lpstr>Data Preprocessing : Approach (2) </vt:lpstr>
      <vt:lpstr>Classification Modelling : Approach (2) </vt:lpstr>
      <vt:lpstr>Model Deployment for approach (2): By using Gradio </vt:lpstr>
      <vt:lpstr>Model Deployment for approach (2): By using Gradio </vt:lpstr>
      <vt:lpstr>Conclusion</vt:lpstr>
      <vt:lpstr>PowerPoint Presentation</vt:lpstr>
      <vt:lpstr>Thanks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amgad sabry</dc:creator>
  <cp:lastModifiedBy>Mennatullah Hassanin</cp:lastModifiedBy>
  <cp:revision>18</cp:revision>
  <dcterms:created xsi:type="dcterms:W3CDTF">2024-09-28T20:15:56Z</dcterms:created>
  <dcterms:modified xsi:type="dcterms:W3CDTF">2024-10-02T02:57:03Z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2024-07-08T00:00:00Z</vt:filetime>
  </property>
  <property fmtid="{D5CDD505-2E9C-101B-9397-08002B2CF9AE}" pid="3" name="Creator">
    <vt:lpwstr>Microsoft® PowerPoint® 2013</vt:lpwstr>
  </property>
  <property fmtid="{D5CDD505-2E9C-101B-9397-08002B2CF9AE}" pid="4" name="LastSaved">
    <vt:filetime>2024-09-28T00:00:00Z</vt:filetime>
  </property>
  <property fmtid="{D5CDD505-2E9C-101B-9397-08002B2CF9AE}" pid="5" name="Producer">
    <vt:lpwstr>Microsoft® PowerPoint® 2013</vt:lpwstr>
  </property>
</Properties>
</file>